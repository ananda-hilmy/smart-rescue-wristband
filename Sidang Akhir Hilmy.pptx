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6858000" cy="9144000"/>
  <p:embeddedFontLst>
    <p:embeddedFont>
      <p:font typeface="Be Vietnam" panose="020B0604020202020204" charset="0"/>
      <p:regular r:id="rId27"/>
    </p:embeddedFont>
    <p:embeddedFont>
      <p:font typeface="Be Vietnam Ultra-Bold" panose="020B0604020202020204" charset="0"/>
      <p:regular r:id="rId28"/>
    </p:embeddedFont>
    <p:embeddedFont>
      <p:font typeface="Boston Angel"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D8D8"/>
    <a:srgbClr val="2D3E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66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grpSp>
        <p:nvGrpSpPr>
          <p:cNvPr id="4" name="Group 4"/>
          <p:cNvGrpSpPr/>
          <p:nvPr/>
        </p:nvGrpSpPr>
        <p:grpSpPr>
          <a:xfrm rot="-2460">
            <a:off x="2493775" y="3953604"/>
            <a:ext cx="13295671" cy="9525"/>
            <a:chOff x="0" y="0"/>
            <a:chExt cx="17727562" cy="12700"/>
          </a:xfrm>
        </p:grpSpPr>
        <p:sp>
          <p:nvSpPr>
            <p:cNvPr id="5" name="Freeform 5"/>
            <p:cNvSpPr/>
            <p:nvPr/>
          </p:nvSpPr>
          <p:spPr>
            <a:xfrm>
              <a:off x="6350" y="0"/>
              <a:ext cx="17714849" cy="12700"/>
            </a:xfrm>
            <a:custGeom>
              <a:avLst/>
              <a:gdLst/>
              <a:ahLst/>
              <a:cxnLst/>
              <a:rect l="l" t="t" r="r" b="b"/>
              <a:pathLst>
                <a:path w="17714849" h="12700">
                  <a:moveTo>
                    <a:pt x="0" y="0"/>
                  </a:moveTo>
                  <a:lnTo>
                    <a:pt x="17714849" y="0"/>
                  </a:lnTo>
                  <a:lnTo>
                    <a:pt x="17714849" y="12700"/>
                  </a:lnTo>
                  <a:lnTo>
                    <a:pt x="0" y="12700"/>
                  </a:lnTo>
                  <a:close/>
                </a:path>
              </a:pathLst>
            </a:custGeom>
            <a:solidFill>
              <a:srgbClr val="2D3E70"/>
            </a:solidFill>
          </p:spPr>
        </p:sp>
      </p:grpSp>
      <p:grpSp>
        <p:nvGrpSpPr>
          <p:cNvPr id="6" name="Group 6"/>
          <p:cNvGrpSpPr/>
          <p:nvPr/>
        </p:nvGrpSpPr>
        <p:grpSpPr>
          <a:xfrm>
            <a:off x="2493774" y="6223392"/>
            <a:ext cx="13295681" cy="9525"/>
            <a:chOff x="0" y="0"/>
            <a:chExt cx="17727574" cy="12700"/>
          </a:xfrm>
        </p:grpSpPr>
        <p:sp>
          <p:nvSpPr>
            <p:cNvPr id="7" name="Freeform 7"/>
            <p:cNvSpPr/>
            <p:nvPr/>
          </p:nvSpPr>
          <p:spPr>
            <a:xfrm>
              <a:off x="6350" y="0"/>
              <a:ext cx="17714849" cy="12700"/>
            </a:xfrm>
            <a:custGeom>
              <a:avLst/>
              <a:gdLst/>
              <a:ahLst/>
              <a:cxnLst/>
              <a:rect l="l" t="t" r="r" b="b"/>
              <a:pathLst>
                <a:path w="17714849" h="12700">
                  <a:moveTo>
                    <a:pt x="0" y="0"/>
                  </a:moveTo>
                  <a:lnTo>
                    <a:pt x="17714849" y="0"/>
                  </a:lnTo>
                  <a:lnTo>
                    <a:pt x="17714849" y="12700"/>
                  </a:lnTo>
                  <a:lnTo>
                    <a:pt x="0" y="12700"/>
                  </a:lnTo>
                  <a:close/>
                </a:path>
              </a:pathLst>
            </a:custGeom>
            <a:solidFill>
              <a:srgbClr val="2D3E70"/>
            </a:solidFill>
          </p:spPr>
        </p:sp>
      </p:grpSp>
      <p:grpSp>
        <p:nvGrpSpPr>
          <p:cNvPr id="8" name="Group 8"/>
          <p:cNvGrpSpPr/>
          <p:nvPr/>
        </p:nvGrpSpPr>
        <p:grpSpPr>
          <a:xfrm>
            <a:off x="-4772" y="8799357"/>
            <a:ext cx="18292772" cy="1487643"/>
            <a:chOff x="0" y="0"/>
            <a:chExt cx="3763945" cy="306099"/>
          </a:xfrm>
        </p:grpSpPr>
        <p:sp>
          <p:nvSpPr>
            <p:cNvPr id="9" name="Freeform 9"/>
            <p:cNvSpPr/>
            <p:nvPr/>
          </p:nvSpPr>
          <p:spPr>
            <a:xfrm>
              <a:off x="0" y="0"/>
              <a:ext cx="3763945" cy="306099"/>
            </a:xfrm>
            <a:custGeom>
              <a:avLst/>
              <a:gdLst/>
              <a:ahLst/>
              <a:cxnLst/>
              <a:rect l="l" t="t" r="r" b="b"/>
              <a:pathLst>
                <a:path w="3763945" h="306099">
                  <a:moveTo>
                    <a:pt x="0" y="0"/>
                  </a:moveTo>
                  <a:lnTo>
                    <a:pt x="3763945" y="0"/>
                  </a:lnTo>
                  <a:lnTo>
                    <a:pt x="3763945" y="306099"/>
                  </a:lnTo>
                  <a:lnTo>
                    <a:pt x="0" y="306099"/>
                  </a:lnTo>
                  <a:close/>
                </a:path>
              </a:pathLst>
            </a:custGeom>
            <a:solidFill>
              <a:srgbClr val="2D3E70"/>
            </a:solidFill>
          </p:spPr>
        </p:sp>
        <p:sp>
          <p:nvSpPr>
            <p:cNvPr id="10" name="TextBox 10"/>
            <p:cNvSpPr txBox="1"/>
            <p:nvPr/>
          </p:nvSpPr>
          <p:spPr>
            <a:xfrm>
              <a:off x="0" y="-38100"/>
              <a:ext cx="3763945" cy="344199"/>
            </a:xfrm>
            <a:prstGeom prst="rect">
              <a:avLst/>
            </a:prstGeom>
          </p:spPr>
          <p:txBody>
            <a:bodyPr lIns="50800" tIns="50800" rIns="50800" bIns="50800" rtlCol="0" anchor="ctr"/>
            <a:lstStyle/>
            <a:p>
              <a:pPr algn="ctr">
                <a:lnSpc>
                  <a:spcPts val="2520"/>
                </a:lnSpc>
              </a:pPr>
              <a:endParaRPr/>
            </a:p>
          </p:txBody>
        </p:sp>
      </p:grpSp>
      <p:sp>
        <p:nvSpPr>
          <p:cNvPr id="11" name="Freeform 11"/>
          <p:cNvSpPr/>
          <p:nvPr/>
        </p:nvSpPr>
        <p:spPr>
          <a:xfrm>
            <a:off x="1304925" y="243024"/>
            <a:ext cx="505062" cy="635887"/>
          </a:xfrm>
          <a:custGeom>
            <a:avLst/>
            <a:gdLst/>
            <a:ahLst/>
            <a:cxnLst/>
            <a:rect l="l" t="t" r="r" b="b"/>
            <a:pathLst>
              <a:path w="505062" h="635887">
                <a:moveTo>
                  <a:pt x="0" y="0"/>
                </a:moveTo>
                <a:lnTo>
                  <a:pt x="505062" y="0"/>
                </a:lnTo>
                <a:lnTo>
                  <a:pt x="505062" y="635886"/>
                </a:lnTo>
                <a:lnTo>
                  <a:pt x="0" y="635886"/>
                </a:lnTo>
                <a:lnTo>
                  <a:pt x="0" y="0"/>
                </a:lnTo>
                <a:close/>
              </a:path>
            </a:pathLst>
          </a:custGeom>
          <a:blipFill>
            <a:blip r:embed="rId2"/>
            <a:stretch>
              <a:fillRect/>
            </a:stretch>
          </a:blipFill>
        </p:spPr>
      </p:sp>
      <p:sp>
        <p:nvSpPr>
          <p:cNvPr id="12" name="TextBox 12"/>
          <p:cNvSpPr txBox="1"/>
          <p:nvPr/>
        </p:nvSpPr>
        <p:spPr>
          <a:xfrm>
            <a:off x="2493774" y="3920261"/>
            <a:ext cx="13295681" cy="2181847"/>
          </a:xfrm>
          <a:prstGeom prst="rect">
            <a:avLst/>
          </a:prstGeom>
        </p:spPr>
        <p:txBody>
          <a:bodyPr lIns="0" tIns="0" rIns="0" bIns="0" rtlCol="0" anchor="t">
            <a:spAutoFit/>
          </a:bodyPr>
          <a:lstStyle/>
          <a:p>
            <a:pPr algn="ctr">
              <a:lnSpc>
                <a:spcPts val="5740"/>
              </a:lnSpc>
            </a:pPr>
            <a:r>
              <a:rPr lang="en-US" sz="4099">
                <a:solidFill>
                  <a:srgbClr val="2D3E70"/>
                </a:solidFill>
                <a:latin typeface="Boston Angel"/>
                <a:ea typeface="Boston Angel"/>
                <a:cs typeface="Boston Angel"/>
                <a:sym typeface="Boston Angel"/>
              </a:rPr>
              <a:t>Implementasi Smart Rescue Wristband Berbasis IoT Menggunakan Sensor Detak Jantung, GPS, dan Komunikasi LoRa pada Sistem Gelang Pelampung</a:t>
            </a:r>
          </a:p>
        </p:txBody>
      </p:sp>
      <p:sp>
        <p:nvSpPr>
          <p:cNvPr id="13" name="TextBox 13"/>
          <p:cNvSpPr txBox="1"/>
          <p:nvPr/>
        </p:nvSpPr>
        <p:spPr>
          <a:xfrm>
            <a:off x="2493774" y="1356717"/>
            <a:ext cx="13261419" cy="2520879"/>
          </a:xfrm>
          <a:prstGeom prst="rect">
            <a:avLst/>
          </a:prstGeom>
        </p:spPr>
        <p:txBody>
          <a:bodyPr lIns="0" tIns="0" rIns="0" bIns="0" rtlCol="0" anchor="t">
            <a:spAutoFit/>
          </a:bodyPr>
          <a:lstStyle/>
          <a:p>
            <a:pPr algn="ctr">
              <a:lnSpc>
                <a:spcPts val="19598"/>
              </a:lnSpc>
            </a:pPr>
            <a:r>
              <a:rPr lang="en-US" sz="13998">
                <a:solidFill>
                  <a:srgbClr val="2D3E70"/>
                </a:solidFill>
                <a:latin typeface="Boston Angel"/>
                <a:ea typeface="Boston Angel"/>
                <a:cs typeface="Boston Angel"/>
                <a:sym typeface="Boston Angel"/>
              </a:rPr>
              <a:t>Sidang Akhir</a:t>
            </a:r>
          </a:p>
        </p:txBody>
      </p:sp>
      <p:sp>
        <p:nvSpPr>
          <p:cNvPr id="14" name="TextBox 14"/>
          <p:cNvSpPr txBox="1"/>
          <p:nvPr/>
        </p:nvSpPr>
        <p:spPr>
          <a:xfrm>
            <a:off x="2493780" y="6451992"/>
            <a:ext cx="13261419" cy="590550"/>
          </a:xfrm>
          <a:prstGeom prst="rect">
            <a:avLst/>
          </a:prstGeom>
        </p:spPr>
        <p:txBody>
          <a:bodyPr lIns="0" tIns="0" rIns="0" bIns="0" rtlCol="0" anchor="t">
            <a:spAutoFit/>
          </a:bodyPr>
          <a:lstStyle/>
          <a:p>
            <a:pPr algn="ctr">
              <a:lnSpc>
                <a:spcPts val="4200"/>
              </a:lnSpc>
            </a:pPr>
            <a:r>
              <a:rPr lang="en-US" sz="3000">
                <a:solidFill>
                  <a:srgbClr val="202020"/>
                </a:solidFill>
                <a:latin typeface="Be Vietnam"/>
                <a:ea typeface="Be Vietnam"/>
                <a:cs typeface="Be Vietnam"/>
                <a:sym typeface="Be Vietnam"/>
              </a:rPr>
              <a:t>Dipresentasikan oleh </a:t>
            </a:r>
          </a:p>
        </p:txBody>
      </p:sp>
      <p:sp>
        <p:nvSpPr>
          <p:cNvPr id="15" name="TextBox 15"/>
          <p:cNvSpPr txBox="1"/>
          <p:nvPr/>
        </p:nvSpPr>
        <p:spPr>
          <a:xfrm>
            <a:off x="1897638" y="388564"/>
            <a:ext cx="4689234" cy="306705"/>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Institut Teknologi Batam</a:t>
            </a:r>
          </a:p>
        </p:txBody>
      </p:sp>
      <p:sp>
        <p:nvSpPr>
          <p:cNvPr id="16" name="TextBox 16"/>
          <p:cNvSpPr txBox="1"/>
          <p:nvPr/>
        </p:nvSpPr>
        <p:spPr>
          <a:xfrm>
            <a:off x="440064" y="9056532"/>
            <a:ext cx="4941506" cy="621096"/>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Dosen Pembimbing : M. Abrar Masril, M.Kom</a:t>
            </a:r>
          </a:p>
          <a:p>
            <a:pPr algn="l">
              <a:lnSpc>
                <a:spcPts val="2520"/>
              </a:lnSpc>
            </a:pPr>
            <a:endParaRPr lang="en-US" sz="1800">
              <a:solidFill>
                <a:srgbClr val="FFFFFF"/>
              </a:solidFill>
              <a:latin typeface="Be Vietnam"/>
              <a:ea typeface="Be Vietnam"/>
              <a:cs typeface="Be Vietnam"/>
              <a:sym typeface="Be Vietnam"/>
            </a:endParaRPr>
          </a:p>
        </p:txBody>
      </p:sp>
      <p:sp>
        <p:nvSpPr>
          <p:cNvPr id="17" name="TextBox 1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Teknik Komputer</a:t>
            </a:r>
          </a:p>
        </p:txBody>
      </p:sp>
      <p:sp>
        <p:nvSpPr>
          <p:cNvPr id="18" name="TextBox 18"/>
          <p:cNvSpPr txBox="1"/>
          <p:nvPr/>
        </p:nvSpPr>
        <p:spPr>
          <a:xfrm>
            <a:off x="2528035" y="7188094"/>
            <a:ext cx="13261419" cy="596875"/>
          </a:xfrm>
          <a:prstGeom prst="rect">
            <a:avLst/>
          </a:prstGeom>
        </p:spPr>
        <p:txBody>
          <a:bodyPr lIns="0" tIns="0" rIns="0" bIns="0" rtlCol="0" anchor="t">
            <a:spAutoFit/>
          </a:bodyPr>
          <a:lstStyle/>
          <a:p>
            <a:pPr algn="ctr">
              <a:lnSpc>
                <a:spcPts val="4898"/>
              </a:lnSpc>
            </a:pPr>
            <a:r>
              <a:rPr lang="en-US" sz="3498" b="1">
                <a:solidFill>
                  <a:srgbClr val="202020"/>
                </a:solidFill>
                <a:latin typeface="Be Vietnam Ultra-Bold"/>
                <a:ea typeface="Be Vietnam Ultra-Bold"/>
                <a:cs typeface="Be Vietnam Ultra-Bold"/>
                <a:sym typeface="Be Vietnam Ultra-Bold"/>
              </a:rPr>
              <a:t>Ananda Hilmy - 2222027</a:t>
            </a:r>
          </a:p>
        </p:txBody>
      </p:sp>
      <p:sp>
        <p:nvSpPr>
          <p:cNvPr id="19" name="TextBox 19"/>
          <p:cNvSpPr txBox="1"/>
          <p:nvPr/>
        </p:nvSpPr>
        <p:spPr>
          <a:xfrm>
            <a:off x="440064" y="9505079"/>
            <a:ext cx="5277869" cy="621030"/>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Dosen Pembimbing : Joni Eka Candra, S.T., M.T</a:t>
            </a:r>
          </a:p>
          <a:p>
            <a:pPr algn="l">
              <a:lnSpc>
                <a:spcPts val="2520"/>
              </a:lnSpc>
            </a:pPr>
            <a:endParaRPr lang="en-US" sz="1800">
              <a:solidFill>
                <a:srgbClr val="FFFFFF"/>
              </a:solidFill>
              <a:latin typeface="Be Vietnam"/>
              <a:ea typeface="Be Vietnam"/>
              <a:cs typeface="Be Vietnam"/>
              <a:sym typeface="Be Vietnam"/>
            </a:endParaRPr>
          </a:p>
        </p:txBody>
      </p:sp>
      <p:sp>
        <p:nvSpPr>
          <p:cNvPr id="20" name="TextBox 20"/>
          <p:cNvSpPr txBox="1"/>
          <p:nvPr/>
        </p:nvSpPr>
        <p:spPr>
          <a:xfrm>
            <a:off x="12014908" y="9056532"/>
            <a:ext cx="5530142" cy="306705"/>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Dosen Penguji : Deosa Putra Caniago, M.Kom</a:t>
            </a:r>
          </a:p>
        </p:txBody>
      </p:sp>
      <p:sp>
        <p:nvSpPr>
          <p:cNvPr id="21" name="TextBox 21"/>
          <p:cNvSpPr txBox="1"/>
          <p:nvPr/>
        </p:nvSpPr>
        <p:spPr>
          <a:xfrm>
            <a:off x="12019763" y="9505079"/>
            <a:ext cx="5770790" cy="306705"/>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Dosen Penguji : Mhd Adi Setiawan Aritonang, M.Kom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AKHIR</a:t>
            </a:r>
          </a:p>
        </p:txBody>
      </p:sp>
      <p:sp>
        <p:nvSpPr>
          <p:cNvPr id="6" name="TextBox 6"/>
          <p:cNvSpPr txBox="1"/>
          <p:nvPr/>
        </p:nvSpPr>
        <p:spPr>
          <a:xfrm>
            <a:off x="12570066" y="388048"/>
            <a:ext cx="4689234" cy="621030"/>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a:p>
            <a:pPr algn="r">
              <a:lnSpc>
                <a:spcPts val="2520"/>
              </a:lnSpc>
            </a:pPr>
            <a:endParaRPr lang="en-US" sz="1800">
              <a:solidFill>
                <a:srgbClr val="FFFFFF"/>
              </a:solidFill>
              <a:latin typeface="Be Vietnam"/>
              <a:ea typeface="Be Vietnam"/>
              <a:cs typeface="Be Vietnam"/>
              <a:sym typeface="Be Vietnam"/>
            </a:endParaRPr>
          </a:p>
        </p:txBody>
      </p:sp>
      <p:sp>
        <p:nvSpPr>
          <p:cNvPr id="7" name="TextBox 7"/>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02</a:t>
            </a:r>
          </a:p>
        </p:txBody>
      </p:sp>
      <p:sp>
        <p:nvSpPr>
          <p:cNvPr id="8" name="TextBox 8"/>
          <p:cNvSpPr txBox="1"/>
          <p:nvPr/>
        </p:nvSpPr>
        <p:spPr>
          <a:xfrm>
            <a:off x="1028700" y="1781240"/>
            <a:ext cx="11541366" cy="2171744"/>
          </a:xfrm>
          <a:prstGeom prst="rect">
            <a:avLst/>
          </a:prstGeom>
        </p:spPr>
        <p:txBody>
          <a:bodyPr lIns="0" tIns="0" rIns="0" bIns="0" rtlCol="0" anchor="t">
            <a:spAutoFit/>
          </a:bodyPr>
          <a:lstStyle/>
          <a:p>
            <a:pPr algn="l">
              <a:lnSpc>
                <a:spcPts val="16800"/>
              </a:lnSpc>
            </a:pPr>
            <a:r>
              <a:rPr lang="en-US" sz="12000">
                <a:solidFill>
                  <a:srgbClr val="FAF4EB"/>
                </a:solidFill>
                <a:latin typeface="Boston Angel"/>
                <a:ea typeface="Boston Angel"/>
                <a:cs typeface="Boston Angel"/>
                <a:sym typeface="Boston Angel"/>
              </a:rPr>
              <a:t>Latar Belakang</a:t>
            </a:r>
          </a:p>
        </p:txBody>
      </p:sp>
      <p:sp>
        <p:nvSpPr>
          <p:cNvPr id="9" name="TextBox 9"/>
          <p:cNvSpPr txBox="1"/>
          <p:nvPr/>
        </p:nvSpPr>
        <p:spPr>
          <a:xfrm>
            <a:off x="3460080" y="4229209"/>
            <a:ext cx="11367840" cy="2834174"/>
          </a:xfrm>
          <a:prstGeom prst="rect">
            <a:avLst/>
          </a:prstGeom>
        </p:spPr>
        <p:txBody>
          <a:bodyPr lIns="0" tIns="0" rIns="0" bIns="0" rtlCol="0" anchor="t">
            <a:spAutoFit/>
          </a:bodyPr>
          <a:lstStyle/>
          <a:p>
            <a:pPr algn="just">
              <a:lnSpc>
                <a:spcPts val="3220"/>
              </a:lnSpc>
            </a:pPr>
            <a:r>
              <a:rPr lang="en-US" sz="2300" dirty="0" err="1">
                <a:solidFill>
                  <a:srgbClr val="FAF4EB"/>
                </a:solidFill>
                <a:latin typeface="Be Vietnam"/>
                <a:ea typeface="Be Vietnam"/>
                <a:cs typeface="Be Vietnam"/>
                <a:sym typeface="Be Vietnam"/>
              </a:rPr>
              <a:t>Keselamatan</a:t>
            </a:r>
            <a:r>
              <a:rPr lang="en-US" sz="2300" dirty="0">
                <a:solidFill>
                  <a:srgbClr val="FAF4EB"/>
                </a:solidFill>
                <a:latin typeface="Be Vietnam"/>
                <a:ea typeface="Be Vietnam"/>
                <a:cs typeface="Be Vietnam"/>
                <a:sym typeface="Be Vietnam"/>
              </a:rPr>
              <a:t> di wilayah </a:t>
            </a:r>
            <a:r>
              <a:rPr lang="en-US" sz="2300" dirty="0" err="1">
                <a:solidFill>
                  <a:srgbClr val="FAF4EB"/>
                </a:solidFill>
                <a:latin typeface="Be Vietnam"/>
                <a:ea typeface="Be Vietnam"/>
                <a:cs typeface="Be Vietnam"/>
                <a:sym typeface="Be Vietnam"/>
              </a:rPr>
              <a:t>perairan</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memerlukan</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sistem</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tanggap</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darurat</a:t>
            </a:r>
            <a:r>
              <a:rPr lang="en-US" sz="2300" dirty="0">
                <a:solidFill>
                  <a:srgbClr val="FAF4EB"/>
                </a:solidFill>
                <a:latin typeface="Be Vietnam"/>
                <a:ea typeface="Be Vietnam"/>
                <a:cs typeface="Be Vietnam"/>
                <a:sym typeface="Be Vietnam"/>
              </a:rPr>
              <a:t> yang </a:t>
            </a:r>
            <a:r>
              <a:rPr lang="en-US" sz="2300" dirty="0" err="1">
                <a:solidFill>
                  <a:srgbClr val="FAF4EB"/>
                </a:solidFill>
                <a:latin typeface="Be Vietnam"/>
                <a:ea typeface="Be Vietnam"/>
                <a:cs typeface="Be Vietnam"/>
                <a:sym typeface="Be Vietnam"/>
              </a:rPr>
              <a:t>cepat</a:t>
            </a:r>
            <a:r>
              <a:rPr lang="en-US" sz="2300" dirty="0">
                <a:solidFill>
                  <a:srgbClr val="FAF4EB"/>
                </a:solidFill>
                <a:latin typeface="Be Vietnam"/>
                <a:ea typeface="Be Vietnam"/>
                <a:cs typeface="Be Vietnam"/>
                <a:sym typeface="Be Vietnam"/>
              </a:rPr>
              <a:t> dan </a:t>
            </a:r>
            <a:r>
              <a:rPr lang="en-US" sz="2300" dirty="0" err="1">
                <a:solidFill>
                  <a:srgbClr val="FAF4EB"/>
                </a:solidFill>
                <a:latin typeface="Be Vietnam"/>
                <a:ea typeface="Be Vietnam"/>
                <a:cs typeface="Be Vietnam"/>
                <a:sym typeface="Be Vietnam"/>
              </a:rPr>
              <a:t>akurat</a:t>
            </a:r>
            <a:r>
              <a:rPr lang="en-US" sz="2300" dirty="0">
                <a:solidFill>
                  <a:srgbClr val="FAF4EB"/>
                </a:solidFill>
                <a:latin typeface="Be Vietnam"/>
                <a:ea typeface="Be Vietnam"/>
                <a:cs typeface="Be Vietnam"/>
                <a:sym typeface="Be Vietnam"/>
              </a:rPr>
              <a:t>. Alat </a:t>
            </a:r>
            <a:r>
              <a:rPr lang="en-US" sz="2300" dirty="0" err="1">
                <a:solidFill>
                  <a:srgbClr val="FAF4EB"/>
                </a:solidFill>
                <a:latin typeface="Be Vietnam"/>
                <a:ea typeface="Be Vietnam"/>
                <a:cs typeface="Be Vietnam"/>
                <a:sym typeface="Be Vietnam"/>
              </a:rPr>
              <a:t>keselamatan</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konvensional</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saat</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ini</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belum</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mampu</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menyediakan</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informasi</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lokasi</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serta</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kondisi</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fisik</a:t>
            </a:r>
            <a:r>
              <a:rPr lang="en-US" sz="2300" dirty="0">
                <a:solidFill>
                  <a:srgbClr val="FAF4EB"/>
                </a:solidFill>
                <a:latin typeface="Be Vietnam"/>
                <a:ea typeface="Be Vietnam"/>
                <a:cs typeface="Be Vietnam"/>
                <a:sym typeface="Be Vietnam"/>
              </a:rPr>
              <a:t> korban </a:t>
            </a:r>
            <a:r>
              <a:rPr lang="en-US" sz="2300" dirty="0" err="1">
                <a:solidFill>
                  <a:srgbClr val="FAF4EB"/>
                </a:solidFill>
                <a:latin typeface="Be Vietnam"/>
                <a:ea typeface="Be Vietnam"/>
                <a:cs typeface="Be Vietnam"/>
                <a:sym typeface="Be Vietnam"/>
              </a:rPr>
              <a:t>secara</a:t>
            </a:r>
            <a:r>
              <a:rPr lang="en-US" sz="2300" dirty="0">
                <a:solidFill>
                  <a:srgbClr val="FAF4EB"/>
                </a:solidFill>
                <a:latin typeface="Be Vietnam"/>
                <a:ea typeface="Be Vietnam"/>
                <a:cs typeface="Be Vietnam"/>
                <a:sym typeface="Be Vietnam"/>
              </a:rPr>
              <a:t> real-time. Oleh </a:t>
            </a:r>
            <a:r>
              <a:rPr lang="en-US" sz="2300" dirty="0" err="1">
                <a:solidFill>
                  <a:srgbClr val="FAF4EB"/>
                </a:solidFill>
                <a:latin typeface="Be Vietnam"/>
                <a:ea typeface="Be Vietnam"/>
                <a:cs typeface="Be Vietnam"/>
                <a:sym typeface="Be Vietnam"/>
              </a:rPr>
              <a:t>karena</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itu</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penelitian</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ini</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merancang</a:t>
            </a:r>
            <a:r>
              <a:rPr lang="en-US" sz="2300" dirty="0">
                <a:solidFill>
                  <a:srgbClr val="FAF4EB"/>
                </a:solidFill>
                <a:latin typeface="Be Vietnam"/>
                <a:ea typeface="Be Vietnam"/>
                <a:cs typeface="Be Vietnam"/>
                <a:sym typeface="Be Vietnam"/>
              </a:rPr>
              <a:t> Smart Rescue Wristband </a:t>
            </a:r>
            <a:r>
              <a:rPr lang="en-US" sz="2300" dirty="0" err="1">
                <a:solidFill>
                  <a:srgbClr val="FAF4EB"/>
                </a:solidFill>
                <a:latin typeface="Be Vietnam"/>
                <a:ea typeface="Be Vietnam"/>
                <a:cs typeface="Be Vietnam"/>
                <a:sym typeface="Be Vietnam"/>
              </a:rPr>
              <a:t>berbasis</a:t>
            </a:r>
            <a:r>
              <a:rPr lang="en-US" sz="2300" dirty="0">
                <a:solidFill>
                  <a:srgbClr val="FAF4EB"/>
                </a:solidFill>
                <a:latin typeface="Be Vietnam"/>
                <a:ea typeface="Be Vietnam"/>
                <a:cs typeface="Be Vietnam"/>
                <a:sym typeface="Be Vietnam"/>
              </a:rPr>
              <a:t> IoT dan </a:t>
            </a:r>
            <a:r>
              <a:rPr lang="en-US" sz="2300" dirty="0" err="1">
                <a:solidFill>
                  <a:srgbClr val="FAF4EB"/>
                </a:solidFill>
                <a:latin typeface="Be Vietnam"/>
                <a:ea typeface="Be Vietnam"/>
                <a:cs typeface="Be Vietnam"/>
                <a:sym typeface="Be Vietnam"/>
              </a:rPr>
              <a:t>komunikasi</a:t>
            </a:r>
            <a:r>
              <a:rPr lang="en-US" sz="2300" dirty="0">
                <a:solidFill>
                  <a:srgbClr val="FAF4EB"/>
                </a:solidFill>
                <a:latin typeface="Be Vietnam"/>
                <a:ea typeface="Be Vietnam"/>
                <a:cs typeface="Be Vietnam"/>
                <a:sym typeface="Be Vietnam"/>
              </a:rPr>
              <a:t> LoRa yang </a:t>
            </a:r>
            <a:r>
              <a:rPr lang="en-US" sz="2300">
                <a:solidFill>
                  <a:srgbClr val="FAF4EB"/>
                </a:solidFill>
                <a:latin typeface="Be Vietnam"/>
                <a:ea typeface="Be Vietnam"/>
                <a:cs typeface="Be Vietnam"/>
                <a:sym typeface="Be Vietnam"/>
              </a:rPr>
              <a:t>mengintegsrasikan</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pemantauan</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tanda</a:t>
            </a:r>
            <a:r>
              <a:rPr lang="en-US" sz="2300" dirty="0">
                <a:solidFill>
                  <a:srgbClr val="FAF4EB"/>
                </a:solidFill>
                <a:latin typeface="Be Vietnam"/>
                <a:ea typeface="Be Vietnam"/>
                <a:cs typeface="Be Vietnam"/>
                <a:sym typeface="Be Vietnam"/>
              </a:rPr>
              <a:t> vital, </a:t>
            </a:r>
            <a:r>
              <a:rPr lang="en-US" sz="2300" dirty="0" err="1">
                <a:solidFill>
                  <a:srgbClr val="FAF4EB"/>
                </a:solidFill>
                <a:latin typeface="Be Vietnam"/>
                <a:ea typeface="Be Vietnam"/>
                <a:cs typeface="Be Vietnam"/>
                <a:sym typeface="Be Vietnam"/>
              </a:rPr>
              <a:t>pelacak</a:t>
            </a:r>
            <a:r>
              <a:rPr lang="en-US" sz="2300" dirty="0">
                <a:solidFill>
                  <a:srgbClr val="FAF4EB"/>
                </a:solidFill>
                <a:latin typeface="Be Vietnam"/>
                <a:ea typeface="Be Vietnam"/>
                <a:cs typeface="Be Vietnam"/>
                <a:sym typeface="Be Vietnam"/>
              </a:rPr>
              <a:t> GPS, </a:t>
            </a:r>
            <a:r>
              <a:rPr lang="en-US" sz="2300" dirty="0" err="1">
                <a:solidFill>
                  <a:srgbClr val="FAF4EB"/>
                </a:solidFill>
                <a:latin typeface="Be Vietnam"/>
                <a:ea typeface="Be Vietnam"/>
                <a:cs typeface="Be Vietnam"/>
                <a:sym typeface="Be Vietnam"/>
              </a:rPr>
              <a:t>serta</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pelampung</a:t>
            </a:r>
            <a:r>
              <a:rPr lang="en-US" sz="2300" dirty="0">
                <a:solidFill>
                  <a:srgbClr val="FAF4EB"/>
                </a:solidFill>
                <a:latin typeface="Be Vietnam"/>
                <a:ea typeface="Be Vietnam"/>
                <a:cs typeface="Be Vietnam"/>
                <a:sym typeface="Be Vietnam"/>
              </a:rPr>
              <a:t> dan </a:t>
            </a:r>
            <a:r>
              <a:rPr lang="en-US" sz="2300" dirty="0" err="1">
                <a:solidFill>
                  <a:srgbClr val="FAF4EB"/>
                </a:solidFill>
                <a:latin typeface="Be Vietnam"/>
                <a:ea typeface="Be Vietnam"/>
                <a:cs typeface="Be Vietnam"/>
                <a:sym typeface="Be Vietnam"/>
              </a:rPr>
              <a:t>terhubung</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ke</a:t>
            </a:r>
            <a:r>
              <a:rPr lang="en-US" sz="2300" dirty="0">
                <a:solidFill>
                  <a:srgbClr val="FAF4EB"/>
                </a:solidFill>
                <a:latin typeface="Be Vietnam"/>
                <a:ea typeface="Be Vietnam"/>
                <a:cs typeface="Be Vietnam"/>
                <a:sym typeface="Be Vietnam"/>
              </a:rPr>
              <a:t> dashboard web </a:t>
            </a:r>
            <a:r>
              <a:rPr lang="en-US" sz="2300" dirty="0" err="1">
                <a:solidFill>
                  <a:srgbClr val="FAF4EB"/>
                </a:solidFill>
                <a:latin typeface="Be Vietnam"/>
                <a:ea typeface="Be Vietnam"/>
                <a:cs typeface="Be Vietnam"/>
                <a:sym typeface="Be Vietnam"/>
              </a:rPr>
              <a:t>untuk</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membantu</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tim</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penyelamat</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dalam</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melakukan</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evakuasi</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secara</a:t>
            </a:r>
            <a:r>
              <a:rPr lang="en-US" sz="2300" dirty="0">
                <a:solidFill>
                  <a:srgbClr val="FAF4EB"/>
                </a:solidFill>
                <a:latin typeface="Be Vietnam"/>
                <a:ea typeface="Be Vietnam"/>
                <a:cs typeface="Be Vietnam"/>
                <a:sym typeface="Be Vietnam"/>
              </a:rPr>
              <a:t> </a:t>
            </a:r>
            <a:r>
              <a:rPr lang="en-US" sz="2300" dirty="0" err="1">
                <a:solidFill>
                  <a:srgbClr val="FAF4EB"/>
                </a:solidFill>
                <a:latin typeface="Be Vietnam"/>
                <a:ea typeface="Be Vietnam"/>
                <a:cs typeface="Be Vietnam"/>
                <a:sym typeface="Be Vietnam"/>
              </a:rPr>
              <a:t>presisi</a:t>
            </a:r>
            <a:r>
              <a:rPr lang="en-US" sz="2300" dirty="0">
                <a:solidFill>
                  <a:srgbClr val="FAF4EB"/>
                </a:solidFill>
                <a:latin typeface="Be Vietnam"/>
                <a:ea typeface="Be Vietnam"/>
                <a:cs typeface="Be Vietnam"/>
                <a:sym typeface="Be Vietnam"/>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SIDANG AKHIR</a:t>
            </a:r>
          </a:p>
        </p:txBody>
      </p:sp>
      <p:sp>
        <p:nvSpPr>
          <p:cNvPr id="6" name="TextBox 6"/>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2026</a:t>
            </a:r>
          </a:p>
        </p:txBody>
      </p:sp>
      <p:sp>
        <p:nvSpPr>
          <p:cNvPr id="7" name="TextBox 7"/>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HALAMAN 03</a:t>
            </a:r>
          </a:p>
        </p:txBody>
      </p:sp>
      <p:sp>
        <p:nvSpPr>
          <p:cNvPr id="8" name="TextBox 8"/>
          <p:cNvSpPr txBox="1"/>
          <p:nvPr/>
        </p:nvSpPr>
        <p:spPr>
          <a:xfrm>
            <a:off x="3500245" y="2117371"/>
            <a:ext cx="11287510" cy="1943122"/>
          </a:xfrm>
          <a:prstGeom prst="rect">
            <a:avLst/>
          </a:prstGeom>
        </p:spPr>
        <p:txBody>
          <a:bodyPr lIns="0" tIns="0" rIns="0" bIns="0" rtlCol="0" anchor="t">
            <a:spAutoFit/>
          </a:bodyPr>
          <a:lstStyle/>
          <a:p>
            <a:pPr algn="r">
              <a:lnSpc>
                <a:spcPts val="14400"/>
              </a:lnSpc>
            </a:pPr>
            <a:r>
              <a:rPr lang="en-US" sz="12000">
                <a:solidFill>
                  <a:srgbClr val="2D3E70"/>
                </a:solidFill>
                <a:latin typeface="Boston Angel"/>
                <a:ea typeface="Boston Angel"/>
                <a:cs typeface="Boston Angel"/>
                <a:sym typeface="Boston Angel"/>
              </a:rPr>
              <a:t>Rumusan Masalah</a:t>
            </a:r>
          </a:p>
        </p:txBody>
      </p:sp>
      <p:sp>
        <p:nvSpPr>
          <p:cNvPr id="9" name="TextBox 9"/>
          <p:cNvSpPr txBox="1"/>
          <p:nvPr/>
        </p:nvSpPr>
        <p:spPr>
          <a:xfrm>
            <a:off x="3718428" y="4012868"/>
            <a:ext cx="11367840" cy="3589853"/>
          </a:xfrm>
          <a:prstGeom prst="rect">
            <a:avLst/>
          </a:prstGeom>
        </p:spPr>
        <p:txBody>
          <a:bodyPr lIns="0" tIns="0" rIns="0" bIns="0" rtlCol="0" anchor="t">
            <a:spAutoFit/>
          </a:bodyPr>
          <a:lstStyle/>
          <a:p>
            <a:pPr marL="496571" lvl="1" indent="-248285" algn="just">
              <a:lnSpc>
                <a:spcPts val="3220"/>
              </a:lnSpc>
              <a:buAutoNum type="arabicPeriod"/>
            </a:pPr>
            <a:r>
              <a:rPr lang="en-US" sz="2300" dirty="0" err="1">
                <a:solidFill>
                  <a:srgbClr val="2D3E70"/>
                </a:solidFill>
                <a:latin typeface="Be Vietnam"/>
                <a:ea typeface="Be Vietnam"/>
                <a:cs typeface="Be Vietnam"/>
                <a:sym typeface="Be Vietnam"/>
              </a:rPr>
              <a:t>Bagaimana</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merancang</a:t>
            </a:r>
            <a:r>
              <a:rPr lang="en-US" sz="2300" dirty="0">
                <a:solidFill>
                  <a:srgbClr val="2D3E70"/>
                </a:solidFill>
                <a:latin typeface="Be Vietnam"/>
                <a:ea typeface="Be Vietnam"/>
                <a:cs typeface="Be Vietnam"/>
                <a:sym typeface="Be Vietnam"/>
              </a:rPr>
              <a:t> Smart Rescue Wristband </a:t>
            </a:r>
            <a:r>
              <a:rPr lang="en-US" sz="2300" dirty="0" err="1">
                <a:solidFill>
                  <a:srgbClr val="2D3E70"/>
                </a:solidFill>
                <a:latin typeface="Be Vietnam"/>
                <a:ea typeface="Be Vietnam"/>
                <a:cs typeface="Be Vietnam"/>
                <a:sym typeface="Be Vietnam"/>
              </a:rPr>
              <a:t>berbasis</a:t>
            </a:r>
            <a:r>
              <a:rPr lang="en-US" sz="2300" dirty="0">
                <a:solidFill>
                  <a:srgbClr val="2D3E70"/>
                </a:solidFill>
                <a:latin typeface="Be Vietnam"/>
                <a:ea typeface="Be Vietnam"/>
                <a:cs typeface="Be Vietnam"/>
                <a:sym typeface="Be Vietnam"/>
              </a:rPr>
              <a:t> IoT </a:t>
            </a:r>
            <a:r>
              <a:rPr lang="en-US" sz="2300" dirty="0" err="1">
                <a:solidFill>
                  <a:srgbClr val="2D3E70"/>
                </a:solidFill>
                <a:latin typeface="Be Vietnam"/>
                <a:ea typeface="Be Vietnam"/>
                <a:cs typeface="Be Vietnam"/>
                <a:sym typeface="Be Vietnam"/>
              </a:rPr>
              <a:t>sebagai</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perangkat</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pendukung</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keselamatan</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pengguna</a:t>
            </a:r>
            <a:r>
              <a:rPr lang="en-US" sz="2300" dirty="0">
                <a:solidFill>
                  <a:srgbClr val="2D3E70"/>
                </a:solidFill>
                <a:latin typeface="Be Vietnam"/>
                <a:ea typeface="Be Vietnam"/>
                <a:cs typeface="Be Vietnam"/>
                <a:sym typeface="Be Vietnam"/>
              </a:rPr>
              <a:t> di </a:t>
            </a:r>
            <a:r>
              <a:rPr lang="en-US" sz="2300" dirty="0" err="1">
                <a:solidFill>
                  <a:srgbClr val="2D3E70"/>
                </a:solidFill>
                <a:latin typeface="Be Vietnam"/>
                <a:ea typeface="Be Vietnam"/>
                <a:cs typeface="Be Vietnam"/>
                <a:sym typeface="Be Vietnam"/>
              </a:rPr>
              <a:t>lingkungan</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perairan</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waduk</a:t>
            </a:r>
            <a:r>
              <a:rPr lang="en-US" sz="2300" dirty="0">
                <a:solidFill>
                  <a:srgbClr val="2D3E70"/>
                </a:solidFill>
                <a:latin typeface="Be Vietnam"/>
                <a:ea typeface="Be Vietnam"/>
                <a:cs typeface="Be Vietnam"/>
                <a:sym typeface="Be Vietnam"/>
              </a:rPr>
              <a:t>?</a:t>
            </a:r>
          </a:p>
          <a:p>
            <a:pPr marL="496571" lvl="1" indent="-248285" algn="just">
              <a:lnSpc>
                <a:spcPts val="3220"/>
              </a:lnSpc>
              <a:buAutoNum type="arabicPeriod"/>
            </a:pPr>
            <a:r>
              <a:rPr lang="en-US" sz="2300" dirty="0" err="1">
                <a:solidFill>
                  <a:srgbClr val="2D3E70"/>
                </a:solidFill>
                <a:latin typeface="Be Vietnam"/>
                <a:ea typeface="Be Vietnam"/>
                <a:cs typeface="Be Vietnam"/>
                <a:sym typeface="Be Vietnam"/>
              </a:rPr>
              <a:t>Bagaimana</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mengintegrasikan</a:t>
            </a:r>
            <a:r>
              <a:rPr lang="en-US" sz="2300" dirty="0">
                <a:solidFill>
                  <a:srgbClr val="2D3E70"/>
                </a:solidFill>
                <a:latin typeface="Be Vietnam"/>
                <a:ea typeface="Be Vietnam"/>
                <a:cs typeface="Be Vietnam"/>
                <a:sym typeface="Be Vietnam"/>
              </a:rPr>
              <a:t> sensor </a:t>
            </a:r>
            <a:r>
              <a:rPr lang="en-US" sz="2300" dirty="0" err="1">
                <a:solidFill>
                  <a:srgbClr val="2D3E70"/>
                </a:solidFill>
                <a:latin typeface="Be Vietnam"/>
                <a:ea typeface="Be Vietnam"/>
                <a:cs typeface="Be Vietnam"/>
                <a:sym typeface="Be Vietnam"/>
              </a:rPr>
              <a:t>detak</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jantung</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modul</a:t>
            </a:r>
            <a:r>
              <a:rPr lang="en-US" sz="2300" dirty="0">
                <a:solidFill>
                  <a:srgbClr val="2D3E70"/>
                </a:solidFill>
                <a:latin typeface="Be Vietnam"/>
                <a:ea typeface="Be Vietnam"/>
                <a:cs typeface="Be Vietnam"/>
                <a:sym typeface="Be Vietnam"/>
              </a:rPr>
              <a:t> GPS, dan </a:t>
            </a:r>
            <a:r>
              <a:rPr lang="en-US" sz="2300" dirty="0" err="1">
                <a:solidFill>
                  <a:srgbClr val="2D3E70"/>
                </a:solidFill>
                <a:latin typeface="Be Vietnam"/>
                <a:ea typeface="Be Vietnam"/>
                <a:cs typeface="Be Vietnam"/>
                <a:sym typeface="Be Vietnam"/>
              </a:rPr>
              <a:t>komunikasi</a:t>
            </a:r>
            <a:r>
              <a:rPr lang="en-US" sz="2300" dirty="0">
                <a:solidFill>
                  <a:srgbClr val="2D3E70"/>
                </a:solidFill>
                <a:latin typeface="Be Vietnam"/>
                <a:ea typeface="Be Vietnam"/>
                <a:cs typeface="Be Vietnam"/>
                <a:sym typeface="Be Vietnam"/>
              </a:rPr>
              <a:t> LoRa </a:t>
            </a:r>
            <a:r>
              <a:rPr lang="en-US" sz="2300" dirty="0" err="1">
                <a:solidFill>
                  <a:srgbClr val="2D3E70"/>
                </a:solidFill>
                <a:latin typeface="Be Vietnam"/>
                <a:ea typeface="Be Vietnam"/>
                <a:cs typeface="Be Vietnam"/>
                <a:sym typeface="Be Vietnam"/>
              </a:rPr>
              <a:t>dalam</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satu</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sistem</a:t>
            </a:r>
            <a:r>
              <a:rPr lang="en-US" sz="2300" dirty="0">
                <a:solidFill>
                  <a:srgbClr val="2D3E70"/>
                </a:solidFill>
                <a:latin typeface="Be Vietnam"/>
                <a:ea typeface="Be Vietnam"/>
                <a:cs typeface="Be Vietnam"/>
                <a:sym typeface="Be Vietnam"/>
              </a:rPr>
              <a:t>?</a:t>
            </a:r>
          </a:p>
          <a:p>
            <a:pPr marL="496571" lvl="1" indent="-248285" algn="just">
              <a:lnSpc>
                <a:spcPts val="3220"/>
              </a:lnSpc>
              <a:buAutoNum type="arabicPeriod"/>
            </a:pPr>
            <a:r>
              <a:rPr lang="en-US" sz="2300" dirty="0" err="1">
                <a:solidFill>
                  <a:srgbClr val="2D3E70"/>
                </a:solidFill>
                <a:latin typeface="Be Vietnam"/>
                <a:ea typeface="Be Vietnam"/>
                <a:cs typeface="Be Vietnam"/>
                <a:sym typeface="Be Vietnam"/>
              </a:rPr>
              <a:t>Bagaimana</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menampilkan</a:t>
            </a:r>
            <a:r>
              <a:rPr lang="en-US" sz="2300" dirty="0">
                <a:solidFill>
                  <a:srgbClr val="2D3E70"/>
                </a:solidFill>
                <a:latin typeface="Be Vietnam"/>
                <a:ea typeface="Be Vietnam"/>
                <a:cs typeface="Be Vietnam"/>
                <a:sym typeface="Be Vietnam"/>
              </a:rPr>
              <a:t> data </a:t>
            </a:r>
            <a:r>
              <a:rPr lang="en-US" sz="2300" dirty="0" err="1">
                <a:solidFill>
                  <a:srgbClr val="2D3E70"/>
                </a:solidFill>
                <a:latin typeface="Be Vietnam"/>
                <a:ea typeface="Be Vietnam"/>
                <a:cs typeface="Be Vietnam"/>
                <a:sym typeface="Be Vietnam"/>
              </a:rPr>
              <a:t>kondisi</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pengguna</a:t>
            </a:r>
            <a:r>
              <a:rPr lang="en-US" sz="2300" dirty="0">
                <a:solidFill>
                  <a:srgbClr val="2D3E70"/>
                </a:solidFill>
                <a:latin typeface="Be Vietnam"/>
                <a:ea typeface="Be Vietnam"/>
                <a:cs typeface="Be Vietnam"/>
                <a:sym typeface="Be Vietnam"/>
              </a:rPr>
              <a:t> (BPM dan </a:t>
            </a:r>
            <a:r>
              <a:rPr lang="en-US" sz="2300" dirty="0" err="1">
                <a:solidFill>
                  <a:srgbClr val="2D3E70"/>
                </a:solidFill>
                <a:latin typeface="Be Vietnam"/>
                <a:ea typeface="Be Vietnam"/>
                <a:cs typeface="Be Vietnam"/>
                <a:sym typeface="Be Vietnam"/>
              </a:rPr>
              <a:t>SpO</a:t>
            </a:r>
            <a:r>
              <a:rPr lang="en-US" sz="2300" dirty="0">
                <a:solidFill>
                  <a:srgbClr val="2D3E70"/>
                </a:solidFill>
                <a:latin typeface="Be Vietnam"/>
                <a:ea typeface="Be Vietnam"/>
                <a:cs typeface="Be Vietnam"/>
                <a:sym typeface="Be Vietnam"/>
              </a:rPr>
              <a:t>₂) </a:t>
            </a:r>
            <a:r>
              <a:rPr lang="en-US" sz="2300" dirty="0" err="1">
                <a:solidFill>
                  <a:srgbClr val="2D3E70"/>
                </a:solidFill>
                <a:latin typeface="Be Vietnam"/>
                <a:ea typeface="Be Vietnam"/>
                <a:cs typeface="Be Vietnam"/>
                <a:sym typeface="Be Vietnam"/>
              </a:rPr>
              <a:t>serta</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lokasi</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melalui</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sistem</a:t>
            </a:r>
            <a:r>
              <a:rPr lang="en-US" sz="2300" dirty="0">
                <a:solidFill>
                  <a:srgbClr val="2D3E70"/>
                </a:solidFill>
                <a:latin typeface="Be Vietnam"/>
                <a:ea typeface="Be Vietnam"/>
                <a:cs typeface="Be Vietnam"/>
                <a:sym typeface="Be Vietnam"/>
              </a:rPr>
              <a:t> monitoring </a:t>
            </a:r>
            <a:r>
              <a:rPr lang="en-US" sz="2300" dirty="0" err="1">
                <a:solidFill>
                  <a:srgbClr val="2D3E70"/>
                </a:solidFill>
                <a:latin typeface="Be Vietnam"/>
                <a:ea typeface="Be Vietnam"/>
                <a:cs typeface="Be Vietnam"/>
                <a:sym typeface="Be Vietnam"/>
              </a:rPr>
              <a:t>berbasis</a:t>
            </a:r>
            <a:r>
              <a:rPr lang="en-US" sz="2300" dirty="0">
                <a:solidFill>
                  <a:srgbClr val="2D3E70"/>
                </a:solidFill>
                <a:latin typeface="Be Vietnam"/>
                <a:ea typeface="Be Vietnam"/>
                <a:cs typeface="Be Vietnam"/>
                <a:sym typeface="Be Vietnam"/>
              </a:rPr>
              <a:t> web?</a:t>
            </a:r>
          </a:p>
          <a:p>
            <a:pPr marL="496571" lvl="1" indent="-248285" algn="just">
              <a:lnSpc>
                <a:spcPts val="3220"/>
              </a:lnSpc>
              <a:buAutoNum type="arabicPeriod"/>
            </a:pPr>
            <a:r>
              <a:rPr lang="en-US" sz="2300" dirty="0" err="1">
                <a:solidFill>
                  <a:srgbClr val="2D3E70"/>
                </a:solidFill>
                <a:latin typeface="Be Vietnam"/>
                <a:ea typeface="Be Vietnam"/>
                <a:cs typeface="Be Vietnam"/>
                <a:sym typeface="Be Vietnam"/>
              </a:rPr>
              <a:t>Bagaimana</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kinerja</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sistem</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dalam</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pengiriman</a:t>
            </a:r>
            <a:r>
              <a:rPr lang="en-US" sz="2300" dirty="0">
                <a:solidFill>
                  <a:srgbClr val="2D3E70"/>
                </a:solidFill>
                <a:latin typeface="Be Vietnam"/>
                <a:ea typeface="Be Vietnam"/>
                <a:cs typeface="Be Vietnam"/>
                <a:sym typeface="Be Vietnam"/>
              </a:rPr>
              <a:t> dan </a:t>
            </a:r>
            <a:r>
              <a:rPr lang="en-US" sz="2300" dirty="0" err="1">
                <a:solidFill>
                  <a:srgbClr val="2D3E70"/>
                </a:solidFill>
                <a:latin typeface="Be Vietnam"/>
                <a:ea typeface="Be Vietnam"/>
                <a:cs typeface="Be Vietnam"/>
                <a:sym typeface="Be Vietnam"/>
              </a:rPr>
              <a:t>penyajian</a:t>
            </a:r>
            <a:r>
              <a:rPr lang="en-US" sz="2300" dirty="0">
                <a:solidFill>
                  <a:srgbClr val="2D3E70"/>
                </a:solidFill>
                <a:latin typeface="Be Vietnam"/>
                <a:ea typeface="Be Vietnam"/>
                <a:cs typeface="Be Vietnam"/>
                <a:sym typeface="Be Vietnam"/>
              </a:rPr>
              <a:t> data </a:t>
            </a:r>
            <a:r>
              <a:rPr lang="en-US" sz="2300" dirty="0" err="1">
                <a:solidFill>
                  <a:srgbClr val="2D3E70"/>
                </a:solidFill>
                <a:latin typeface="Be Vietnam"/>
                <a:ea typeface="Be Vietnam"/>
                <a:cs typeface="Be Vietnam"/>
                <a:sym typeface="Be Vietnam"/>
              </a:rPr>
              <a:t>untuk</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mendukung</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penanganan</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kecelakaan</a:t>
            </a:r>
            <a:r>
              <a:rPr lang="en-US" sz="2300" dirty="0">
                <a:solidFill>
                  <a:srgbClr val="2D3E70"/>
                </a:solidFill>
                <a:latin typeface="Be Vietnam"/>
                <a:ea typeface="Be Vietnam"/>
                <a:cs typeface="Be Vietnam"/>
                <a:sym typeface="Be Vietnam"/>
              </a:rPr>
              <a:t> di </a:t>
            </a:r>
            <a:r>
              <a:rPr lang="en-US" sz="2300" dirty="0" err="1">
                <a:solidFill>
                  <a:srgbClr val="2D3E70"/>
                </a:solidFill>
                <a:latin typeface="Be Vietnam"/>
                <a:ea typeface="Be Vietnam"/>
                <a:cs typeface="Be Vietnam"/>
                <a:sym typeface="Be Vietnam"/>
              </a:rPr>
              <a:t>perairan</a:t>
            </a:r>
            <a:r>
              <a:rPr lang="en-US" sz="2300" dirty="0">
                <a:solidFill>
                  <a:srgbClr val="2D3E70"/>
                </a:solidFill>
                <a:latin typeface="Be Vietnam"/>
                <a:ea typeface="Be Vietnam"/>
                <a:cs typeface="Be Vietnam"/>
                <a:sym typeface="Be Vietnam"/>
              </a:rPr>
              <a:t> </a:t>
            </a:r>
            <a:r>
              <a:rPr lang="en-US" sz="2300" dirty="0" err="1">
                <a:solidFill>
                  <a:srgbClr val="2D3E70"/>
                </a:solidFill>
                <a:latin typeface="Be Vietnam"/>
                <a:ea typeface="Be Vietnam"/>
                <a:cs typeface="Be Vietnam"/>
                <a:sym typeface="Be Vietnam"/>
              </a:rPr>
              <a:t>waduk</a:t>
            </a:r>
            <a:r>
              <a:rPr lang="en-US" sz="2300" dirty="0">
                <a:solidFill>
                  <a:srgbClr val="2D3E70"/>
                </a:solidFill>
                <a:latin typeface="Be Vietnam"/>
                <a:ea typeface="Be Vietnam"/>
                <a:cs typeface="Be Vietnam"/>
                <a:sym typeface="Be Vietnam"/>
              </a:rPr>
              <a:t>?</a:t>
            </a:r>
          </a:p>
          <a:p>
            <a:pPr algn="just">
              <a:lnSpc>
                <a:spcPts val="3220"/>
              </a:lnSpc>
            </a:pPr>
            <a:endParaRPr lang="en-US" sz="2300" dirty="0">
              <a:solidFill>
                <a:srgbClr val="2D3E70"/>
              </a:solidFill>
              <a:latin typeface="Be Vietnam"/>
              <a:ea typeface="Be Vietnam"/>
              <a:cs typeface="Be Vietnam"/>
              <a:sym typeface="Be Vietna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AKHIR</a:t>
            </a:r>
          </a:p>
        </p:txBody>
      </p:sp>
      <p:sp>
        <p:nvSpPr>
          <p:cNvPr id="6" name="TextBox 6"/>
          <p:cNvSpPr txBox="1"/>
          <p:nvPr/>
        </p:nvSpPr>
        <p:spPr>
          <a:xfrm>
            <a:off x="12570066" y="388048"/>
            <a:ext cx="4689234" cy="621030"/>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a:p>
            <a:pPr algn="r">
              <a:lnSpc>
                <a:spcPts val="2520"/>
              </a:lnSpc>
            </a:pPr>
            <a:endParaRPr lang="en-US" sz="1800">
              <a:solidFill>
                <a:srgbClr val="FFFFFF"/>
              </a:solidFill>
              <a:latin typeface="Be Vietnam"/>
              <a:ea typeface="Be Vietnam"/>
              <a:cs typeface="Be Vietnam"/>
              <a:sym typeface="Be Vietnam"/>
            </a:endParaRPr>
          </a:p>
        </p:txBody>
      </p:sp>
      <p:sp>
        <p:nvSpPr>
          <p:cNvPr id="7" name="TextBox 7"/>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04</a:t>
            </a:r>
          </a:p>
        </p:txBody>
      </p:sp>
      <p:sp>
        <p:nvSpPr>
          <p:cNvPr id="8" name="TextBox 8"/>
          <p:cNvSpPr txBox="1"/>
          <p:nvPr/>
        </p:nvSpPr>
        <p:spPr>
          <a:xfrm>
            <a:off x="4254064" y="1592891"/>
            <a:ext cx="9779873" cy="2171744"/>
          </a:xfrm>
          <a:prstGeom prst="rect">
            <a:avLst/>
          </a:prstGeom>
        </p:spPr>
        <p:txBody>
          <a:bodyPr lIns="0" tIns="0" rIns="0" bIns="0" rtlCol="0" anchor="t">
            <a:spAutoFit/>
          </a:bodyPr>
          <a:lstStyle/>
          <a:p>
            <a:pPr algn="l">
              <a:lnSpc>
                <a:spcPts val="16800"/>
              </a:lnSpc>
            </a:pPr>
            <a:r>
              <a:rPr lang="en-US" sz="12000">
                <a:solidFill>
                  <a:srgbClr val="FAF4EB"/>
                </a:solidFill>
                <a:latin typeface="Boston Angel"/>
                <a:ea typeface="Boston Angel"/>
                <a:cs typeface="Boston Angel"/>
                <a:sym typeface="Boston Angel"/>
              </a:rPr>
              <a:t>Batasan Masalah</a:t>
            </a:r>
          </a:p>
        </p:txBody>
      </p:sp>
      <p:sp>
        <p:nvSpPr>
          <p:cNvPr id="9" name="TextBox 9"/>
          <p:cNvSpPr txBox="1"/>
          <p:nvPr/>
        </p:nvSpPr>
        <p:spPr>
          <a:xfrm>
            <a:off x="3460080" y="3501125"/>
            <a:ext cx="11367840" cy="5190142"/>
          </a:xfrm>
          <a:prstGeom prst="rect">
            <a:avLst/>
          </a:prstGeom>
        </p:spPr>
        <p:txBody>
          <a:bodyPr lIns="0" tIns="0" rIns="0" bIns="0" rtlCol="0" anchor="t">
            <a:spAutoFit/>
          </a:bodyPr>
          <a:lstStyle/>
          <a:p>
            <a:pPr marL="496571" lvl="1" indent="-248285" algn="just">
              <a:lnSpc>
                <a:spcPts val="3220"/>
              </a:lnSpc>
              <a:buAutoNum type="arabicPeriod"/>
            </a:pPr>
            <a:r>
              <a:rPr lang="en-US" sz="2300">
                <a:solidFill>
                  <a:srgbClr val="FAF4EB"/>
                </a:solidFill>
                <a:latin typeface="Be Vietnam"/>
                <a:ea typeface="Be Vietnam"/>
                <a:cs typeface="Be Vietnam"/>
                <a:sym typeface="Be Vietnam"/>
              </a:rPr>
              <a:t>Sistem yang dikembangkan berupa Smart Rescue Wristband berbasis IoT dalam bentuk prototipe yang digunakan pada lingkungan perairan waduk.</a:t>
            </a:r>
          </a:p>
          <a:p>
            <a:pPr marL="496571" lvl="1" indent="-248285" algn="just">
              <a:lnSpc>
                <a:spcPts val="3220"/>
              </a:lnSpc>
              <a:buAutoNum type="arabicPeriod"/>
            </a:pPr>
            <a:r>
              <a:rPr lang="en-US" sz="2300">
                <a:solidFill>
                  <a:srgbClr val="FAF4EB"/>
                </a:solidFill>
                <a:latin typeface="Be Vietnam"/>
                <a:ea typeface="Be Vietnam"/>
                <a:cs typeface="Be Vietnam"/>
                <a:sym typeface="Be Vietnam"/>
              </a:rPr>
              <a:t>Parameter fisiologis yang dipantau terbatas pada detak jantung (BPM) dan kadar oksigen dalam darah (SpO₂), serta lokasi pengguna menggunakan modul GPS.</a:t>
            </a:r>
          </a:p>
          <a:p>
            <a:pPr marL="496571" lvl="1" indent="-248285" algn="just">
              <a:lnSpc>
                <a:spcPts val="3220"/>
              </a:lnSpc>
              <a:buAutoNum type="arabicPeriod"/>
            </a:pPr>
            <a:r>
              <a:rPr lang="en-US" sz="2300">
                <a:solidFill>
                  <a:srgbClr val="FAF4EB"/>
                </a:solidFill>
                <a:latin typeface="Be Vietnam"/>
                <a:ea typeface="Be Vietnam"/>
                <a:cs typeface="Be Vietnam"/>
                <a:sym typeface="Be Vietnam"/>
              </a:rPr>
              <a:t>Komunikasi data antara perangkat transmitter dan receiver menggunakan teknologi LoRa dengan metode komunikasi point-to-point, tanpa membahas perbandingan kinerja dengan metode komunikasi nirkabel lainnya.</a:t>
            </a:r>
          </a:p>
          <a:p>
            <a:pPr marL="496571" lvl="1" indent="-248285" algn="just">
              <a:lnSpc>
                <a:spcPts val="3220"/>
              </a:lnSpc>
              <a:buAutoNum type="arabicPeriod"/>
            </a:pPr>
            <a:r>
              <a:rPr lang="en-US" sz="2300">
                <a:solidFill>
                  <a:srgbClr val="FAF4EB"/>
                </a:solidFill>
                <a:latin typeface="Be Vietnam"/>
                <a:ea typeface="Be Vietnam"/>
                <a:cs typeface="Be Vietnam"/>
                <a:sym typeface="Be Vietnam"/>
              </a:rPr>
              <a:t>Sistem monitoring berbasis website digunakan untuk menampilkan data BPM, SpO₂, latitude, longitude, speed, jumlah satelit, RSSI, dan status kondisi pengguna, serta menyimpan data hasil pengukuran melalui Google Spreadsheet.</a:t>
            </a:r>
          </a:p>
          <a:p>
            <a:pPr algn="just">
              <a:lnSpc>
                <a:spcPts val="3220"/>
              </a:lnSpc>
            </a:pPr>
            <a:endParaRPr lang="en-US" sz="2300">
              <a:solidFill>
                <a:srgbClr val="FAF4EB"/>
              </a:solidFill>
              <a:latin typeface="Be Vietnam"/>
              <a:ea typeface="Be Vietnam"/>
              <a:cs typeface="Be Vietnam"/>
              <a:sym typeface="Be Vietna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SIDANG AKHIR</a:t>
            </a:r>
          </a:p>
        </p:txBody>
      </p:sp>
      <p:sp>
        <p:nvSpPr>
          <p:cNvPr id="6" name="TextBox 6"/>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2026</a:t>
            </a:r>
          </a:p>
        </p:txBody>
      </p:sp>
      <p:sp>
        <p:nvSpPr>
          <p:cNvPr id="7" name="TextBox 7"/>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HALAMAN 05</a:t>
            </a:r>
          </a:p>
        </p:txBody>
      </p:sp>
      <p:sp>
        <p:nvSpPr>
          <p:cNvPr id="8" name="TextBox 8"/>
          <p:cNvSpPr txBox="1"/>
          <p:nvPr/>
        </p:nvSpPr>
        <p:spPr>
          <a:xfrm>
            <a:off x="3500245" y="2117371"/>
            <a:ext cx="11287510" cy="1943122"/>
          </a:xfrm>
          <a:prstGeom prst="rect">
            <a:avLst/>
          </a:prstGeom>
        </p:spPr>
        <p:txBody>
          <a:bodyPr lIns="0" tIns="0" rIns="0" bIns="0" rtlCol="0" anchor="t">
            <a:spAutoFit/>
          </a:bodyPr>
          <a:lstStyle/>
          <a:p>
            <a:pPr algn="ctr">
              <a:lnSpc>
                <a:spcPts val="14400"/>
              </a:lnSpc>
            </a:pPr>
            <a:r>
              <a:rPr lang="en-US" sz="12000">
                <a:solidFill>
                  <a:srgbClr val="2D3E70"/>
                </a:solidFill>
                <a:latin typeface="Boston Angel"/>
                <a:ea typeface="Boston Angel"/>
                <a:cs typeface="Boston Angel"/>
                <a:sym typeface="Boston Angel"/>
              </a:rPr>
              <a:t>Tujuan</a:t>
            </a:r>
          </a:p>
        </p:txBody>
      </p:sp>
      <p:sp>
        <p:nvSpPr>
          <p:cNvPr id="9" name="TextBox 9"/>
          <p:cNvSpPr txBox="1"/>
          <p:nvPr/>
        </p:nvSpPr>
        <p:spPr>
          <a:xfrm>
            <a:off x="3500245" y="4012868"/>
            <a:ext cx="11367840" cy="3589853"/>
          </a:xfrm>
          <a:prstGeom prst="rect">
            <a:avLst/>
          </a:prstGeom>
        </p:spPr>
        <p:txBody>
          <a:bodyPr lIns="0" tIns="0" rIns="0" bIns="0" rtlCol="0" anchor="t">
            <a:spAutoFit/>
          </a:bodyPr>
          <a:lstStyle/>
          <a:p>
            <a:pPr marL="496571" lvl="1" indent="-248285" algn="just">
              <a:lnSpc>
                <a:spcPts val="3220"/>
              </a:lnSpc>
              <a:buAutoNum type="arabicPeriod"/>
            </a:pPr>
            <a:r>
              <a:rPr lang="en-US" sz="2300">
                <a:solidFill>
                  <a:srgbClr val="2D3E70"/>
                </a:solidFill>
                <a:latin typeface="Be Vietnam"/>
                <a:ea typeface="Be Vietnam"/>
                <a:cs typeface="Be Vietnam"/>
                <a:sym typeface="Be Vietnam"/>
              </a:rPr>
              <a:t>Merancang dan membangun Smart Rescue Wristband berbasis IoT sebagai perangkat pendukung keselamatan pengguna di lingkungan perairan waduk.</a:t>
            </a:r>
          </a:p>
          <a:p>
            <a:pPr marL="496571" lvl="1" indent="-248285" algn="just">
              <a:lnSpc>
                <a:spcPts val="3220"/>
              </a:lnSpc>
              <a:buAutoNum type="arabicPeriod"/>
            </a:pPr>
            <a:r>
              <a:rPr lang="en-US" sz="2300">
                <a:solidFill>
                  <a:srgbClr val="2D3E70"/>
                </a:solidFill>
                <a:latin typeface="Be Vietnam"/>
                <a:ea typeface="Be Vietnam"/>
                <a:cs typeface="Be Vietnam"/>
                <a:sym typeface="Be Vietnam"/>
              </a:rPr>
              <a:t>Mengintegrasikan sensor detak jantung, modul GPS, dan komunikasi LoRa dalam satu sistem yang terpadu.</a:t>
            </a:r>
          </a:p>
          <a:p>
            <a:pPr marL="496571" lvl="1" indent="-248285" algn="just">
              <a:lnSpc>
                <a:spcPts val="3220"/>
              </a:lnSpc>
              <a:buAutoNum type="arabicPeriod"/>
            </a:pPr>
            <a:r>
              <a:rPr lang="en-US" sz="2300">
                <a:solidFill>
                  <a:srgbClr val="2D3E70"/>
                </a:solidFill>
                <a:latin typeface="Be Vietnam"/>
                <a:ea typeface="Be Vietnam"/>
                <a:cs typeface="Be Vietnam"/>
                <a:sym typeface="Be Vietnam"/>
              </a:rPr>
              <a:t>Mengembangkan sistem monitoring berbasis web untuk menampilkan data kondisi pengguna (BPM dan SpO₂) serta lokasi pengguna.</a:t>
            </a:r>
          </a:p>
          <a:p>
            <a:pPr marL="496571" lvl="1" indent="-248285" algn="just">
              <a:lnSpc>
                <a:spcPts val="3220"/>
              </a:lnSpc>
              <a:buAutoNum type="arabicPeriod"/>
            </a:pPr>
            <a:r>
              <a:rPr lang="en-US" sz="2300">
                <a:solidFill>
                  <a:srgbClr val="2D3E70"/>
                </a:solidFill>
                <a:latin typeface="Be Vietnam"/>
                <a:ea typeface="Be Vietnam"/>
                <a:cs typeface="Be Vietnam"/>
                <a:sym typeface="Be Vietnam"/>
              </a:rPr>
              <a:t>Mengevaluasi kinerja sistem dalam pengiriman dan penyajian data untuk mendukung penanganan kecelakaan di perairan waduk.</a:t>
            </a:r>
          </a:p>
          <a:p>
            <a:pPr algn="just">
              <a:lnSpc>
                <a:spcPts val="3220"/>
              </a:lnSpc>
            </a:pPr>
            <a:endParaRPr lang="en-US" sz="2300">
              <a:solidFill>
                <a:srgbClr val="2D3E70"/>
              </a:solidFill>
              <a:latin typeface="Be Vietnam"/>
              <a:ea typeface="Be Vietnam"/>
              <a:cs typeface="Be Vietnam"/>
              <a:sym typeface="Be Vietnam"/>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146165" y="1057331"/>
            <a:ext cx="6090971" cy="8200969"/>
          </a:xfrm>
          <a:custGeom>
            <a:avLst/>
            <a:gdLst/>
            <a:ahLst/>
            <a:cxnLst/>
            <a:rect l="l" t="t" r="r" b="b"/>
            <a:pathLst>
              <a:path w="6090971" h="8200969">
                <a:moveTo>
                  <a:pt x="0" y="0"/>
                </a:moveTo>
                <a:lnTo>
                  <a:pt x="6090971" y="0"/>
                </a:lnTo>
                <a:lnTo>
                  <a:pt x="6090971" y="8200969"/>
                </a:lnTo>
                <a:lnTo>
                  <a:pt x="0" y="8200969"/>
                </a:lnTo>
                <a:lnTo>
                  <a:pt x="0" y="0"/>
                </a:lnTo>
                <a:close/>
              </a:path>
            </a:pathLst>
          </a:custGeom>
          <a:blipFill>
            <a:blip r:embed="rId4"/>
            <a:stretch>
              <a:fillRect/>
            </a:stretch>
          </a:blipFill>
        </p:spPr>
      </p:sp>
      <p:sp>
        <p:nvSpPr>
          <p:cNvPr id="6" name="TextBox 6"/>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AKHIR</a:t>
            </a:r>
          </a:p>
        </p:txBody>
      </p:sp>
      <p:sp>
        <p:nvSpPr>
          <p:cNvPr id="7" name="TextBox 7"/>
          <p:cNvSpPr txBox="1"/>
          <p:nvPr/>
        </p:nvSpPr>
        <p:spPr>
          <a:xfrm>
            <a:off x="12570066" y="388048"/>
            <a:ext cx="4689234" cy="621030"/>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a:p>
            <a:pPr algn="r">
              <a:lnSpc>
                <a:spcPts val="2520"/>
              </a:lnSpc>
            </a:pPr>
            <a:endParaRPr lang="en-US" sz="1800">
              <a:solidFill>
                <a:srgbClr val="FFFFFF"/>
              </a:solidFill>
              <a:latin typeface="Be Vietnam"/>
              <a:ea typeface="Be Vietnam"/>
              <a:cs typeface="Be Vietnam"/>
              <a:sym typeface="Be Vietnam"/>
            </a:endParaRPr>
          </a:p>
        </p:txBody>
      </p:sp>
      <p:sp>
        <p:nvSpPr>
          <p:cNvPr id="8" name="TextBox 8"/>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06</a:t>
            </a:r>
          </a:p>
        </p:txBody>
      </p:sp>
      <p:sp>
        <p:nvSpPr>
          <p:cNvPr id="9" name="TextBox 9"/>
          <p:cNvSpPr txBox="1"/>
          <p:nvPr/>
        </p:nvSpPr>
        <p:spPr>
          <a:xfrm>
            <a:off x="1600080" y="2701923"/>
            <a:ext cx="5223477" cy="4305388"/>
          </a:xfrm>
          <a:prstGeom prst="rect">
            <a:avLst/>
          </a:prstGeom>
        </p:spPr>
        <p:txBody>
          <a:bodyPr lIns="0" tIns="0" rIns="0" bIns="0" rtlCol="0" anchor="t">
            <a:spAutoFit/>
          </a:bodyPr>
          <a:lstStyle/>
          <a:p>
            <a:pPr algn="l">
              <a:lnSpc>
                <a:spcPts val="16800"/>
              </a:lnSpc>
            </a:pPr>
            <a:r>
              <a:rPr lang="en-US" sz="12000">
                <a:solidFill>
                  <a:srgbClr val="FAF4EB"/>
                </a:solidFill>
                <a:latin typeface="Boston Angel"/>
                <a:ea typeface="Boston Angel"/>
                <a:cs typeface="Boston Angel"/>
                <a:sym typeface="Boston Angel"/>
              </a:rPr>
              <a:t>State of The Art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0489126" y="1048713"/>
            <a:ext cx="5387542" cy="8209587"/>
          </a:xfrm>
          <a:custGeom>
            <a:avLst/>
            <a:gdLst/>
            <a:ahLst/>
            <a:cxnLst/>
            <a:rect l="l" t="t" r="r" b="b"/>
            <a:pathLst>
              <a:path w="5387542" h="8209587">
                <a:moveTo>
                  <a:pt x="0" y="0"/>
                </a:moveTo>
                <a:lnTo>
                  <a:pt x="5387542" y="0"/>
                </a:lnTo>
                <a:lnTo>
                  <a:pt x="5387542" y="8209587"/>
                </a:lnTo>
                <a:lnTo>
                  <a:pt x="0" y="8209587"/>
                </a:lnTo>
                <a:lnTo>
                  <a:pt x="0" y="0"/>
                </a:lnTo>
                <a:close/>
              </a:path>
            </a:pathLst>
          </a:custGeom>
          <a:blipFill>
            <a:blip r:embed="rId4"/>
            <a:stretch>
              <a:fillRect/>
            </a:stretch>
          </a:blipFill>
        </p:spPr>
      </p:sp>
      <p:sp>
        <p:nvSpPr>
          <p:cNvPr id="6" name="TextBox 6"/>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SIDANG AKHIR</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2026</a:t>
            </a:r>
          </a:p>
        </p:txBody>
      </p:sp>
      <p:sp>
        <p:nvSpPr>
          <p:cNvPr id="8" name="TextBox 8"/>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HALAMAN 07</a:t>
            </a:r>
          </a:p>
        </p:txBody>
      </p:sp>
      <p:sp>
        <p:nvSpPr>
          <p:cNvPr id="9" name="TextBox 9"/>
          <p:cNvSpPr txBox="1"/>
          <p:nvPr/>
        </p:nvSpPr>
        <p:spPr>
          <a:xfrm>
            <a:off x="1238553" y="2961072"/>
            <a:ext cx="7905442" cy="3771944"/>
          </a:xfrm>
          <a:prstGeom prst="rect">
            <a:avLst/>
          </a:prstGeom>
        </p:spPr>
        <p:txBody>
          <a:bodyPr lIns="0" tIns="0" rIns="0" bIns="0" rtlCol="0" anchor="t">
            <a:spAutoFit/>
          </a:bodyPr>
          <a:lstStyle/>
          <a:p>
            <a:pPr algn="ctr">
              <a:lnSpc>
                <a:spcPts val="14400"/>
              </a:lnSpc>
            </a:pPr>
            <a:r>
              <a:rPr lang="en-US" sz="12000">
                <a:solidFill>
                  <a:srgbClr val="2D3E70"/>
                </a:solidFill>
                <a:latin typeface="Boston Angel"/>
                <a:ea typeface="Boston Angel"/>
                <a:cs typeface="Boston Angel"/>
                <a:sym typeface="Boston Angel"/>
              </a:rPr>
              <a:t>Metode Perancangan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028700" y="3613154"/>
            <a:ext cx="16230600" cy="4287583"/>
          </a:xfrm>
          <a:custGeom>
            <a:avLst/>
            <a:gdLst/>
            <a:ahLst/>
            <a:cxnLst/>
            <a:rect l="l" t="t" r="r" b="b"/>
            <a:pathLst>
              <a:path w="16230600" h="4287583">
                <a:moveTo>
                  <a:pt x="0" y="0"/>
                </a:moveTo>
                <a:lnTo>
                  <a:pt x="16230600" y="0"/>
                </a:lnTo>
                <a:lnTo>
                  <a:pt x="16230600" y="4287584"/>
                </a:lnTo>
                <a:lnTo>
                  <a:pt x="0" y="4287584"/>
                </a:lnTo>
                <a:lnTo>
                  <a:pt x="0" y="0"/>
                </a:lnTo>
                <a:close/>
              </a:path>
            </a:pathLst>
          </a:custGeom>
          <a:blipFill>
            <a:blip r:embed="rId4"/>
            <a:stretch>
              <a:fillRect/>
            </a:stretch>
          </a:blipFill>
        </p:spPr>
      </p:sp>
      <p:sp>
        <p:nvSpPr>
          <p:cNvPr id="6" name="TextBox 6"/>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AF4EB"/>
                </a:solidFill>
                <a:latin typeface="Be Vietnam"/>
                <a:ea typeface="Be Vietnam"/>
                <a:cs typeface="Be Vietnam"/>
                <a:sym typeface="Be Vietnam"/>
              </a:rPr>
              <a:t>SIDANG AKHIR</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AF4EB"/>
                </a:solidFill>
                <a:latin typeface="Be Vietnam"/>
                <a:ea typeface="Be Vietnam"/>
                <a:cs typeface="Be Vietnam"/>
                <a:sym typeface="Be Vietnam"/>
              </a:rPr>
              <a:t>2026</a:t>
            </a:r>
          </a:p>
        </p:txBody>
      </p:sp>
      <p:sp>
        <p:nvSpPr>
          <p:cNvPr id="8" name="TextBox 8"/>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08</a:t>
            </a:r>
          </a:p>
        </p:txBody>
      </p:sp>
      <p:sp>
        <p:nvSpPr>
          <p:cNvPr id="9" name="TextBox 9"/>
          <p:cNvSpPr txBox="1"/>
          <p:nvPr/>
        </p:nvSpPr>
        <p:spPr>
          <a:xfrm>
            <a:off x="9212938" y="1257356"/>
            <a:ext cx="8046362" cy="1943122"/>
          </a:xfrm>
          <a:prstGeom prst="rect">
            <a:avLst/>
          </a:prstGeom>
        </p:spPr>
        <p:txBody>
          <a:bodyPr lIns="0" tIns="0" rIns="0" bIns="0" rtlCol="0" anchor="t">
            <a:spAutoFit/>
          </a:bodyPr>
          <a:lstStyle/>
          <a:p>
            <a:pPr algn="r">
              <a:lnSpc>
                <a:spcPts val="14400"/>
              </a:lnSpc>
            </a:pPr>
            <a:r>
              <a:rPr lang="en-US" sz="12000">
                <a:solidFill>
                  <a:srgbClr val="FAF4EB"/>
                </a:solidFill>
                <a:latin typeface="Boston Angel"/>
                <a:ea typeface="Boston Angel"/>
                <a:cs typeface="Boston Angel"/>
                <a:sym typeface="Boston Angel"/>
              </a:rPr>
              <a:t>Blok Diagram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sp>
        <p:nvSpPr>
          <p:cNvPr id="4" name="Freeform 4"/>
          <p:cNvSpPr/>
          <p:nvPr/>
        </p:nvSpPr>
        <p:spPr>
          <a:xfrm>
            <a:off x="2549249" y="1047806"/>
            <a:ext cx="8584374" cy="9267881"/>
          </a:xfrm>
          <a:custGeom>
            <a:avLst/>
            <a:gdLst/>
            <a:ahLst/>
            <a:cxnLst/>
            <a:rect l="l" t="t" r="r" b="b"/>
            <a:pathLst>
              <a:path w="8584374" h="9267881">
                <a:moveTo>
                  <a:pt x="0" y="0"/>
                </a:moveTo>
                <a:lnTo>
                  <a:pt x="8584374" y="0"/>
                </a:lnTo>
                <a:lnTo>
                  <a:pt x="8584374" y="9267880"/>
                </a:lnTo>
                <a:lnTo>
                  <a:pt x="0" y="9267880"/>
                </a:lnTo>
                <a:lnTo>
                  <a:pt x="0" y="0"/>
                </a:lnTo>
                <a:close/>
              </a:path>
            </a:pathLst>
          </a:custGeom>
          <a:blipFill>
            <a:blip r:embed="rId2"/>
            <a:stretch>
              <a:fillRect/>
            </a:stretch>
          </a:blipFill>
        </p:spPr>
      </p:sp>
      <p:sp>
        <p:nvSpPr>
          <p:cNvPr id="5" name="TextBox 5"/>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SIDANG AKHIR</a:t>
            </a:r>
          </a:p>
        </p:txBody>
      </p:sp>
      <p:sp>
        <p:nvSpPr>
          <p:cNvPr id="6" name="TextBox 6"/>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2026</a:t>
            </a:r>
          </a:p>
        </p:txBody>
      </p:sp>
      <p:sp>
        <p:nvSpPr>
          <p:cNvPr id="7" name="TextBox 7"/>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363A64"/>
                </a:solidFill>
                <a:latin typeface="Be Vietnam"/>
                <a:ea typeface="Be Vietnam"/>
                <a:cs typeface="Be Vietnam"/>
                <a:sym typeface="Be Vietnam"/>
              </a:rPr>
              <a:t>HALAMAN 09</a:t>
            </a:r>
          </a:p>
        </p:txBody>
      </p:sp>
      <p:sp>
        <p:nvSpPr>
          <p:cNvPr id="8" name="TextBox 8"/>
          <p:cNvSpPr txBox="1"/>
          <p:nvPr/>
        </p:nvSpPr>
        <p:spPr>
          <a:xfrm>
            <a:off x="13676930" y="2961094"/>
            <a:ext cx="3582370" cy="3771900"/>
          </a:xfrm>
          <a:prstGeom prst="rect">
            <a:avLst/>
          </a:prstGeom>
        </p:spPr>
        <p:txBody>
          <a:bodyPr lIns="0" tIns="0" rIns="0" bIns="0" rtlCol="0" anchor="t">
            <a:spAutoFit/>
          </a:bodyPr>
          <a:lstStyle/>
          <a:p>
            <a:pPr algn="l">
              <a:lnSpc>
                <a:spcPts val="14400"/>
              </a:lnSpc>
            </a:pPr>
            <a:r>
              <a:rPr lang="en-US" sz="12000">
                <a:solidFill>
                  <a:srgbClr val="2D3E70"/>
                </a:solidFill>
                <a:latin typeface="Boston Angel"/>
                <a:ea typeface="Boston Angel"/>
                <a:cs typeface="Boston Angel"/>
                <a:sym typeface="Boston Angel"/>
              </a:rPr>
              <a:t>FlowChart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7362170" y="1047806"/>
            <a:ext cx="9897130" cy="8210494"/>
          </a:xfrm>
          <a:custGeom>
            <a:avLst/>
            <a:gdLst/>
            <a:ahLst/>
            <a:cxnLst/>
            <a:rect l="l" t="t" r="r" b="b"/>
            <a:pathLst>
              <a:path w="9897130" h="8210494">
                <a:moveTo>
                  <a:pt x="0" y="0"/>
                </a:moveTo>
                <a:lnTo>
                  <a:pt x="9897130" y="0"/>
                </a:lnTo>
                <a:lnTo>
                  <a:pt x="9897130" y="8210494"/>
                </a:lnTo>
                <a:lnTo>
                  <a:pt x="0" y="8210494"/>
                </a:lnTo>
                <a:lnTo>
                  <a:pt x="0" y="0"/>
                </a:lnTo>
                <a:close/>
              </a:path>
            </a:pathLst>
          </a:custGeom>
          <a:blipFill>
            <a:blip r:embed="rId4"/>
            <a:stretch>
              <a:fillRect/>
            </a:stretch>
          </a:blipFill>
        </p:spPr>
      </p:sp>
      <p:sp>
        <p:nvSpPr>
          <p:cNvPr id="6" name="TextBox 6"/>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AKHIR</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8" name="TextBox 8"/>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010</a:t>
            </a:r>
          </a:p>
        </p:txBody>
      </p:sp>
      <p:sp>
        <p:nvSpPr>
          <p:cNvPr id="9" name="TextBox 9"/>
          <p:cNvSpPr txBox="1"/>
          <p:nvPr/>
        </p:nvSpPr>
        <p:spPr>
          <a:xfrm>
            <a:off x="1028700" y="2961094"/>
            <a:ext cx="6465459" cy="3771900"/>
          </a:xfrm>
          <a:prstGeom prst="rect">
            <a:avLst/>
          </a:prstGeom>
        </p:spPr>
        <p:txBody>
          <a:bodyPr lIns="0" tIns="0" rIns="0" bIns="0" rtlCol="0" anchor="t">
            <a:spAutoFit/>
          </a:bodyPr>
          <a:lstStyle/>
          <a:p>
            <a:pPr algn="l">
              <a:lnSpc>
                <a:spcPts val="14400"/>
              </a:lnSpc>
            </a:pPr>
            <a:r>
              <a:rPr lang="en-US" sz="12000">
                <a:solidFill>
                  <a:srgbClr val="FAF4EB"/>
                </a:solidFill>
                <a:latin typeface="Boston Angel"/>
                <a:ea typeface="Boston Angel"/>
                <a:cs typeface="Boston Angel"/>
                <a:sym typeface="Boston Angel"/>
              </a:rPr>
              <a:t>Diagram Use Case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2" name="Freeform 2"/>
          <p:cNvSpPr/>
          <p:nvPr/>
        </p:nvSpPr>
        <p:spPr>
          <a:xfrm>
            <a:off x="336940" y="1906438"/>
            <a:ext cx="9393818" cy="7577680"/>
          </a:xfrm>
          <a:custGeom>
            <a:avLst/>
            <a:gdLst/>
            <a:ahLst/>
            <a:cxnLst/>
            <a:rect l="l" t="t" r="r" b="b"/>
            <a:pathLst>
              <a:path w="9393818" h="7577680">
                <a:moveTo>
                  <a:pt x="0" y="0"/>
                </a:moveTo>
                <a:lnTo>
                  <a:pt x="9393818" y="0"/>
                </a:lnTo>
                <a:lnTo>
                  <a:pt x="9393818" y="7577680"/>
                </a:lnTo>
                <a:lnTo>
                  <a:pt x="0" y="7577680"/>
                </a:lnTo>
                <a:lnTo>
                  <a:pt x="0" y="0"/>
                </a:lnTo>
                <a:close/>
              </a:path>
            </a:pathLst>
          </a:custGeom>
          <a:blipFill>
            <a:blip r:embed="rId2"/>
            <a:stretch>
              <a:fillRect/>
            </a:stretch>
          </a:blipFill>
        </p:spPr>
      </p:sp>
      <p:sp>
        <p:nvSpPr>
          <p:cNvPr id="3" name="Freeform 3"/>
          <p:cNvSpPr/>
          <p:nvPr/>
        </p:nvSpPr>
        <p:spPr>
          <a:xfrm>
            <a:off x="9993241" y="1781119"/>
            <a:ext cx="7931015" cy="7702998"/>
          </a:xfrm>
          <a:custGeom>
            <a:avLst/>
            <a:gdLst/>
            <a:ahLst/>
            <a:cxnLst/>
            <a:rect l="l" t="t" r="r" b="b"/>
            <a:pathLst>
              <a:path w="7931015" h="7702998">
                <a:moveTo>
                  <a:pt x="0" y="0"/>
                </a:moveTo>
                <a:lnTo>
                  <a:pt x="7931015" y="0"/>
                </a:lnTo>
                <a:lnTo>
                  <a:pt x="7931015" y="7702999"/>
                </a:lnTo>
                <a:lnTo>
                  <a:pt x="0" y="7702999"/>
                </a:lnTo>
                <a:lnTo>
                  <a:pt x="0" y="0"/>
                </a:lnTo>
                <a:close/>
              </a:path>
            </a:pathLst>
          </a:custGeom>
          <a:blipFill>
            <a:blip r:embed="rId3"/>
            <a:stretch>
              <a:fillRect/>
            </a:stretch>
          </a:blipFill>
        </p:spPr>
      </p:sp>
      <p:sp>
        <p:nvSpPr>
          <p:cNvPr id="4" name="TextBox 4"/>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SIDANG AKHIR</a:t>
            </a:r>
          </a:p>
        </p:txBody>
      </p:sp>
      <p:sp>
        <p:nvSpPr>
          <p:cNvPr id="5" name="TextBox 5"/>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2026</a:t>
            </a:r>
          </a:p>
        </p:txBody>
      </p:sp>
      <p:sp>
        <p:nvSpPr>
          <p:cNvPr id="6" name="TextBox 6"/>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363A64"/>
                </a:solidFill>
                <a:latin typeface="Be Vietnam"/>
                <a:ea typeface="Be Vietnam"/>
                <a:cs typeface="Be Vietnam"/>
                <a:sym typeface="Be Vietnam"/>
              </a:rPr>
              <a:t>HALAMAN 11</a:t>
            </a:r>
          </a:p>
        </p:txBody>
      </p:sp>
      <p:sp>
        <p:nvSpPr>
          <p:cNvPr id="7" name="TextBox 7"/>
          <p:cNvSpPr txBox="1"/>
          <p:nvPr/>
        </p:nvSpPr>
        <p:spPr>
          <a:xfrm>
            <a:off x="4701122" y="152344"/>
            <a:ext cx="7868944" cy="1628775"/>
          </a:xfrm>
          <a:prstGeom prst="rect">
            <a:avLst/>
          </a:prstGeom>
        </p:spPr>
        <p:txBody>
          <a:bodyPr lIns="0" tIns="0" rIns="0" bIns="0" rtlCol="0" anchor="t">
            <a:spAutoFit/>
          </a:bodyPr>
          <a:lstStyle/>
          <a:p>
            <a:pPr algn="ctr">
              <a:lnSpc>
                <a:spcPts val="12000"/>
              </a:lnSpc>
            </a:pPr>
            <a:r>
              <a:rPr lang="en-US" sz="10000">
                <a:solidFill>
                  <a:srgbClr val="2D3E70"/>
                </a:solidFill>
                <a:latin typeface="Boston Angel"/>
                <a:ea typeface="Boston Angel"/>
                <a:cs typeface="Boston Angel"/>
                <a:sym typeface="Boston Angel"/>
              </a:rPr>
              <a:t>Design Web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3318483" y="2466621"/>
            <a:ext cx="11651034" cy="7272187"/>
          </a:xfrm>
          <a:custGeom>
            <a:avLst/>
            <a:gdLst/>
            <a:ahLst/>
            <a:cxnLst/>
            <a:rect l="l" t="t" r="r" b="b"/>
            <a:pathLst>
              <a:path w="11651034" h="7272187">
                <a:moveTo>
                  <a:pt x="0" y="0"/>
                </a:moveTo>
                <a:lnTo>
                  <a:pt x="11651034" y="0"/>
                </a:lnTo>
                <a:lnTo>
                  <a:pt x="11651034" y="7272187"/>
                </a:lnTo>
                <a:lnTo>
                  <a:pt x="0" y="7272187"/>
                </a:lnTo>
                <a:lnTo>
                  <a:pt x="0" y="0"/>
                </a:lnTo>
                <a:close/>
              </a:path>
            </a:pathLst>
          </a:custGeom>
          <a:blipFill>
            <a:blip r:embed="rId2"/>
            <a:stretch>
              <a:fillRect/>
            </a:stretch>
          </a:blipFill>
        </p:spPr>
      </p:sp>
      <p:sp>
        <p:nvSpPr>
          <p:cNvPr id="5" name="TextBox 5"/>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AKHIR</a:t>
            </a:r>
          </a:p>
        </p:txBody>
      </p:sp>
      <p:sp>
        <p:nvSpPr>
          <p:cNvPr id="6" name="TextBox 6"/>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7" name="TextBox 7"/>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FAF4EB"/>
                </a:solidFill>
                <a:latin typeface="Be Vietnam"/>
                <a:ea typeface="Be Vietnam"/>
                <a:cs typeface="Be Vietnam"/>
                <a:sym typeface="Be Vietnam"/>
              </a:rPr>
              <a:t>HALAMAN 12</a:t>
            </a:r>
          </a:p>
        </p:txBody>
      </p:sp>
      <p:sp>
        <p:nvSpPr>
          <p:cNvPr id="8" name="TextBox 8"/>
          <p:cNvSpPr txBox="1"/>
          <p:nvPr/>
        </p:nvSpPr>
        <p:spPr>
          <a:xfrm>
            <a:off x="3266043" y="1047801"/>
            <a:ext cx="11755896" cy="1628775"/>
          </a:xfrm>
          <a:prstGeom prst="rect">
            <a:avLst/>
          </a:prstGeom>
        </p:spPr>
        <p:txBody>
          <a:bodyPr lIns="0" tIns="0" rIns="0" bIns="0" rtlCol="0" anchor="t">
            <a:spAutoFit/>
          </a:bodyPr>
          <a:lstStyle/>
          <a:p>
            <a:pPr algn="l">
              <a:lnSpc>
                <a:spcPts val="12000"/>
              </a:lnSpc>
            </a:pPr>
            <a:r>
              <a:rPr lang="en-US" sz="10000" dirty="0" err="1">
                <a:solidFill>
                  <a:srgbClr val="FAF4EB"/>
                </a:solidFill>
                <a:latin typeface="Boston Angel"/>
                <a:ea typeface="Boston Angel"/>
                <a:cs typeface="Boston Angel"/>
                <a:sym typeface="Boston Angel"/>
              </a:rPr>
              <a:t>Rangkaian</a:t>
            </a:r>
            <a:r>
              <a:rPr lang="en-US" sz="10000" dirty="0">
                <a:solidFill>
                  <a:srgbClr val="FAF4EB"/>
                </a:solidFill>
                <a:latin typeface="Boston Angel"/>
                <a:ea typeface="Boston Angel"/>
                <a:cs typeface="Boston Angel"/>
                <a:sym typeface="Boston Angel"/>
              </a:rPr>
              <a:t> </a:t>
            </a:r>
            <a:r>
              <a:rPr lang="en-US" sz="10000" dirty="0" err="1">
                <a:solidFill>
                  <a:srgbClr val="FAF4EB"/>
                </a:solidFill>
                <a:latin typeface="Boston Angel"/>
                <a:ea typeface="Boston Angel"/>
                <a:cs typeface="Boston Angel"/>
                <a:sym typeface="Boston Angel"/>
              </a:rPr>
              <a:t>Elektronika</a:t>
            </a:r>
            <a:endParaRPr lang="en-US" sz="10000" dirty="0">
              <a:solidFill>
                <a:srgbClr val="FAF4EB"/>
              </a:solidFill>
              <a:latin typeface="Boston Angel"/>
              <a:ea typeface="Boston Angel"/>
              <a:cs typeface="Boston Angel"/>
              <a:sym typeface="Boston Ange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8401830" y="1692493"/>
            <a:ext cx="8336473" cy="6776454"/>
          </a:xfrm>
          <a:custGeom>
            <a:avLst/>
            <a:gdLst/>
            <a:ahLst/>
            <a:cxnLst/>
            <a:rect l="l" t="t" r="r" b="b"/>
            <a:pathLst>
              <a:path w="8336473" h="6776454">
                <a:moveTo>
                  <a:pt x="0" y="0"/>
                </a:moveTo>
                <a:lnTo>
                  <a:pt x="8336473" y="0"/>
                </a:lnTo>
                <a:lnTo>
                  <a:pt x="8336473" y="6776454"/>
                </a:lnTo>
                <a:lnTo>
                  <a:pt x="0" y="6776454"/>
                </a:lnTo>
                <a:lnTo>
                  <a:pt x="0" y="0"/>
                </a:lnTo>
                <a:close/>
              </a:path>
            </a:pathLst>
          </a:custGeom>
          <a:blipFill>
            <a:blip r:embed="rId4"/>
            <a:stretch>
              <a:fillRect l="-55583" t="-42935" r="-56754" b="-41747"/>
            </a:stretch>
          </a:blipFill>
        </p:spPr>
      </p:sp>
      <p:sp>
        <p:nvSpPr>
          <p:cNvPr id="6" name="TextBox 6"/>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AKHIR</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8" name="TextBox 8"/>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13</a:t>
            </a:r>
          </a:p>
        </p:txBody>
      </p:sp>
      <p:sp>
        <p:nvSpPr>
          <p:cNvPr id="9" name="TextBox 9"/>
          <p:cNvSpPr txBox="1"/>
          <p:nvPr/>
        </p:nvSpPr>
        <p:spPr>
          <a:xfrm>
            <a:off x="1028700" y="3282689"/>
            <a:ext cx="4689234" cy="3152775"/>
          </a:xfrm>
          <a:prstGeom prst="rect">
            <a:avLst/>
          </a:prstGeom>
        </p:spPr>
        <p:txBody>
          <a:bodyPr lIns="0" tIns="0" rIns="0" bIns="0" rtlCol="0" anchor="t">
            <a:spAutoFit/>
          </a:bodyPr>
          <a:lstStyle/>
          <a:p>
            <a:pPr algn="l">
              <a:lnSpc>
                <a:spcPts val="12000"/>
              </a:lnSpc>
            </a:pPr>
            <a:r>
              <a:rPr lang="en-US" sz="10000">
                <a:solidFill>
                  <a:srgbClr val="FAF4EB"/>
                </a:solidFill>
                <a:latin typeface="Boston Angel"/>
                <a:ea typeface="Boston Angel"/>
                <a:cs typeface="Boston Angel"/>
                <a:sym typeface="Boston Angel"/>
              </a:rPr>
              <a:t>Tampak Atas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8283219" y="1692493"/>
            <a:ext cx="8976081" cy="6776454"/>
          </a:xfrm>
          <a:custGeom>
            <a:avLst/>
            <a:gdLst/>
            <a:ahLst/>
            <a:cxnLst/>
            <a:rect l="l" t="t" r="r" b="b"/>
            <a:pathLst>
              <a:path w="8976081" h="6776454">
                <a:moveTo>
                  <a:pt x="0" y="0"/>
                </a:moveTo>
                <a:lnTo>
                  <a:pt x="8976081" y="0"/>
                </a:lnTo>
                <a:lnTo>
                  <a:pt x="8976081" y="6776454"/>
                </a:lnTo>
                <a:lnTo>
                  <a:pt x="0" y="6776454"/>
                </a:lnTo>
                <a:lnTo>
                  <a:pt x="0" y="0"/>
                </a:lnTo>
                <a:close/>
              </a:path>
            </a:pathLst>
          </a:custGeom>
          <a:blipFill>
            <a:blip r:embed="rId4"/>
            <a:stretch>
              <a:fillRect l="-56933" t="-32215" r="-43667" b="-55645"/>
            </a:stretch>
          </a:blipFill>
        </p:spPr>
      </p:sp>
      <p:sp>
        <p:nvSpPr>
          <p:cNvPr id="6" name="TextBox 6"/>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AKHIR</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8" name="TextBox 8"/>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14</a:t>
            </a:r>
          </a:p>
        </p:txBody>
      </p:sp>
      <p:sp>
        <p:nvSpPr>
          <p:cNvPr id="9" name="TextBox 9"/>
          <p:cNvSpPr txBox="1"/>
          <p:nvPr/>
        </p:nvSpPr>
        <p:spPr>
          <a:xfrm>
            <a:off x="1028700" y="3282689"/>
            <a:ext cx="4689234" cy="3152775"/>
          </a:xfrm>
          <a:prstGeom prst="rect">
            <a:avLst/>
          </a:prstGeom>
        </p:spPr>
        <p:txBody>
          <a:bodyPr lIns="0" tIns="0" rIns="0" bIns="0" rtlCol="0" anchor="t">
            <a:spAutoFit/>
          </a:bodyPr>
          <a:lstStyle/>
          <a:p>
            <a:pPr algn="l">
              <a:lnSpc>
                <a:spcPts val="12000"/>
              </a:lnSpc>
            </a:pPr>
            <a:r>
              <a:rPr lang="en-US" sz="10000">
                <a:solidFill>
                  <a:srgbClr val="FAF4EB"/>
                </a:solidFill>
                <a:latin typeface="Boston Angel"/>
                <a:ea typeface="Boston Angel"/>
                <a:cs typeface="Boston Angel"/>
                <a:sym typeface="Boston Angel"/>
              </a:rPr>
              <a:t>Tampak Bawah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8987326" y="1523237"/>
            <a:ext cx="7165480" cy="6776454"/>
          </a:xfrm>
          <a:custGeom>
            <a:avLst/>
            <a:gdLst/>
            <a:ahLst/>
            <a:cxnLst/>
            <a:rect l="l" t="t" r="r" b="b"/>
            <a:pathLst>
              <a:path w="7165480" h="6776454">
                <a:moveTo>
                  <a:pt x="0" y="0"/>
                </a:moveTo>
                <a:lnTo>
                  <a:pt x="7165480" y="0"/>
                </a:lnTo>
                <a:lnTo>
                  <a:pt x="7165480" y="6776454"/>
                </a:lnTo>
                <a:lnTo>
                  <a:pt x="0" y="6776454"/>
                </a:lnTo>
                <a:lnTo>
                  <a:pt x="0" y="0"/>
                </a:lnTo>
                <a:close/>
              </a:path>
            </a:pathLst>
          </a:custGeom>
          <a:blipFill>
            <a:blip r:embed="rId4"/>
            <a:stretch>
              <a:fillRect l="-72129" t="-27063" r="-38973" b="-30754"/>
            </a:stretch>
          </a:blipFill>
        </p:spPr>
      </p:sp>
      <p:sp>
        <p:nvSpPr>
          <p:cNvPr id="6" name="TextBox 6"/>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AKHIR</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8" name="TextBox 8"/>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15</a:t>
            </a:r>
          </a:p>
        </p:txBody>
      </p:sp>
      <p:sp>
        <p:nvSpPr>
          <p:cNvPr id="9" name="TextBox 9"/>
          <p:cNvSpPr txBox="1"/>
          <p:nvPr/>
        </p:nvSpPr>
        <p:spPr>
          <a:xfrm>
            <a:off x="1028700" y="3282689"/>
            <a:ext cx="4689234" cy="3152775"/>
          </a:xfrm>
          <a:prstGeom prst="rect">
            <a:avLst/>
          </a:prstGeom>
        </p:spPr>
        <p:txBody>
          <a:bodyPr lIns="0" tIns="0" rIns="0" bIns="0" rtlCol="0" anchor="t">
            <a:spAutoFit/>
          </a:bodyPr>
          <a:lstStyle/>
          <a:p>
            <a:pPr algn="l">
              <a:lnSpc>
                <a:spcPts val="12000"/>
              </a:lnSpc>
            </a:pPr>
            <a:r>
              <a:rPr lang="en-US" sz="10000">
                <a:solidFill>
                  <a:srgbClr val="FAF4EB"/>
                </a:solidFill>
                <a:latin typeface="Boston Angel"/>
                <a:ea typeface="Boston Angel"/>
                <a:cs typeface="Boston Angel"/>
                <a:sym typeface="Boston Angel"/>
              </a:rPr>
              <a:t>Tampak Depan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174847" y="1523237"/>
            <a:ext cx="6790438" cy="6776454"/>
          </a:xfrm>
          <a:custGeom>
            <a:avLst/>
            <a:gdLst/>
            <a:ahLst/>
            <a:cxnLst/>
            <a:rect l="l" t="t" r="r" b="b"/>
            <a:pathLst>
              <a:path w="6790438" h="6776454">
                <a:moveTo>
                  <a:pt x="0" y="0"/>
                </a:moveTo>
                <a:lnTo>
                  <a:pt x="6790438" y="0"/>
                </a:lnTo>
                <a:lnTo>
                  <a:pt x="6790438" y="6776454"/>
                </a:lnTo>
                <a:lnTo>
                  <a:pt x="0" y="6776454"/>
                </a:lnTo>
                <a:lnTo>
                  <a:pt x="0" y="0"/>
                </a:lnTo>
                <a:close/>
              </a:path>
            </a:pathLst>
          </a:custGeom>
          <a:blipFill>
            <a:blip r:embed="rId4"/>
            <a:stretch>
              <a:fillRect l="-74731" t="-25993" r="-49409" b="-32801"/>
            </a:stretch>
          </a:blipFill>
        </p:spPr>
      </p:sp>
      <p:sp>
        <p:nvSpPr>
          <p:cNvPr id="6" name="TextBox 6"/>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AKHIR</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8" name="TextBox 8"/>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16</a:t>
            </a:r>
          </a:p>
        </p:txBody>
      </p:sp>
      <p:sp>
        <p:nvSpPr>
          <p:cNvPr id="9" name="TextBox 9"/>
          <p:cNvSpPr txBox="1"/>
          <p:nvPr/>
        </p:nvSpPr>
        <p:spPr>
          <a:xfrm>
            <a:off x="1028700" y="3282689"/>
            <a:ext cx="4689234" cy="3152775"/>
          </a:xfrm>
          <a:prstGeom prst="rect">
            <a:avLst/>
          </a:prstGeom>
        </p:spPr>
        <p:txBody>
          <a:bodyPr lIns="0" tIns="0" rIns="0" bIns="0" rtlCol="0" anchor="t">
            <a:spAutoFit/>
          </a:bodyPr>
          <a:lstStyle/>
          <a:p>
            <a:pPr algn="l">
              <a:lnSpc>
                <a:spcPts val="12000"/>
              </a:lnSpc>
            </a:pPr>
            <a:r>
              <a:rPr lang="en-US" sz="10000">
                <a:solidFill>
                  <a:srgbClr val="FAF4EB"/>
                </a:solidFill>
                <a:latin typeface="Boston Angel"/>
                <a:ea typeface="Boston Angel"/>
                <a:cs typeface="Boston Angel"/>
                <a:sym typeface="Boston Angel"/>
              </a:rPr>
              <a:t>Tampak Belakang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796212" y="1692493"/>
            <a:ext cx="5547708" cy="6776454"/>
          </a:xfrm>
          <a:custGeom>
            <a:avLst/>
            <a:gdLst/>
            <a:ahLst/>
            <a:cxnLst/>
            <a:rect l="l" t="t" r="r" b="b"/>
            <a:pathLst>
              <a:path w="5547708" h="6776454">
                <a:moveTo>
                  <a:pt x="0" y="0"/>
                </a:moveTo>
                <a:lnTo>
                  <a:pt x="5547708" y="0"/>
                </a:lnTo>
                <a:lnTo>
                  <a:pt x="5547708" y="6776454"/>
                </a:lnTo>
                <a:lnTo>
                  <a:pt x="0" y="6776454"/>
                </a:lnTo>
                <a:lnTo>
                  <a:pt x="0" y="0"/>
                </a:lnTo>
                <a:close/>
              </a:path>
            </a:pathLst>
          </a:custGeom>
          <a:blipFill>
            <a:blip r:embed="rId4"/>
            <a:stretch>
              <a:fillRect l="-92064" t="-34080" r="-98468" b="-34080"/>
            </a:stretch>
          </a:blipFill>
        </p:spPr>
      </p:sp>
      <p:sp>
        <p:nvSpPr>
          <p:cNvPr id="6" name="TextBox 6"/>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AKHIR</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8" name="TextBox 8"/>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17</a:t>
            </a:r>
          </a:p>
        </p:txBody>
      </p:sp>
      <p:sp>
        <p:nvSpPr>
          <p:cNvPr id="9" name="TextBox 9"/>
          <p:cNvSpPr txBox="1"/>
          <p:nvPr/>
        </p:nvSpPr>
        <p:spPr>
          <a:xfrm>
            <a:off x="1028700" y="3282689"/>
            <a:ext cx="4689234" cy="3152775"/>
          </a:xfrm>
          <a:prstGeom prst="rect">
            <a:avLst/>
          </a:prstGeom>
        </p:spPr>
        <p:txBody>
          <a:bodyPr lIns="0" tIns="0" rIns="0" bIns="0" rtlCol="0" anchor="t">
            <a:spAutoFit/>
          </a:bodyPr>
          <a:lstStyle/>
          <a:p>
            <a:pPr algn="l">
              <a:lnSpc>
                <a:spcPts val="12000"/>
              </a:lnSpc>
            </a:pPr>
            <a:r>
              <a:rPr lang="en-US" sz="10000">
                <a:solidFill>
                  <a:srgbClr val="FAF4EB"/>
                </a:solidFill>
                <a:latin typeface="Boston Angel"/>
                <a:ea typeface="Boston Angel"/>
                <a:cs typeface="Boston Angel"/>
                <a:sym typeface="Boston Angel"/>
              </a:rPr>
              <a:t>Tampak Samping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sp>
        <p:nvSpPr>
          <p:cNvPr id="4" name="Freeform 4"/>
          <p:cNvSpPr/>
          <p:nvPr/>
        </p:nvSpPr>
        <p:spPr>
          <a:xfrm>
            <a:off x="1988402" y="4499831"/>
            <a:ext cx="7933011" cy="4456747"/>
          </a:xfrm>
          <a:custGeom>
            <a:avLst/>
            <a:gdLst/>
            <a:ahLst/>
            <a:cxnLst/>
            <a:rect l="l" t="t" r="r" b="b"/>
            <a:pathLst>
              <a:path w="7933011" h="4456747">
                <a:moveTo>
                  <a:pt x="0" y="0"/>
                </a:moveTo>
                <a:lnTo>
                  <a:pt x="7933011" y="0"/>
                </a:lnTo>
                <a:lnTo>
                  <a:pt x="7933011" y="4456748"/>
                </a:lnTo>
                <a:lnTo>
                  <a:pt x="0" y="4456748"/>
                </a:lnTo>
                <a:lnTo>
                  <a:pt x="0" y="0"/>
                </a:lnTo>
                <a:close/>
              </a:path>
            </a:pathLst>
          </a:custGeom>
          <a:blipFill>
            <a:blip r:embed="rId2"/>
            <a:stretch>
              <a:fillRect/>
            </a:stretch>
          </a:blipFill>
        </p:spPr>
      </p:sp>
      <p:sp>
        <p:nvSpPr>
          <p:cNvPr id="5" name="Freeform 5"/>
          <p:cNvSpPr/>
          <p:nvPr/>
        </p:nvSpPr>
        <p:spPr>
          <a:xfrm>
            <a:off x="11600581" y="1288117"/>
            <a:ext cx="4313510" cy="7668462"/>
          </a:xfrm>
          <a:custGeom>
            <a:avLst/>
            <a:gdLst/>
            <a:ahLst/>
            <a:cxnLst/>
            <a:rect l="l" t="t" r="r" b="b"/>
            <a:pathLst>
              <a:path w="4313510" h="7668462">
                <a:moveTo>
                  <a:pt x="0" y="0"/>
                </a:moveTo>
                <a:lnTo>
                  <a:pt x="4313509" y="0"/>
                </a:lnTo>
                <a:lnTo>
                  <a:pt x="4313509" y="7668462"/>
                </a:lnTo>
                <a:lnTo>
                  <a:pt x="0" y="7668462"/>
                </a:lnTo>
                <a:lnTo>
                  <a:pt x="0" y="0"/>
                </a:lnTo>
                <a:close/>
              </a:path>
            </a:pathLst>
          </a:custGeom>
          <a:blipFill>
            <a:blip r:embed="rId3"/>
            <a:stretch>
              <a:fillRect/>
            </a:stretch>
          </a:blipFill>
        </p:spPr>
      </p:sp>
      <p:sp>
        <p:nvSpPr>
          <p:cNvPr id="6" name="TextBox 6"/>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SIDANG AKHIR</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2026</a:t>
            </a:r>
          </a:p>
        </p:txBody>
      </p:sp>
      <p:sp>
        <p:nvSpPr>
          <p:cNvPr id="8" name="TextBox 8"/>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363A64"/>
                </a:solidFill>
                <a:latin typeface="Be Vietnam"/>
                <a:ea typeface="Be Vietnam"/>
                <a:cs typeface="Be Vietnam"/>
                <a:sym typeface="Be Vietnam"/>
              </a:rPr>
              <a:t>HALAMAN 18</a:t>
            </a:r>
          </a:p>
        </p:txBody>
      </p:sp>
      <p:sp>
        <p:nvSpPr>
          <p:cNvPr id="9" name="TextBox 9"/>
          <p:cNvSpPr txBox="1"/>
          <p:nvPr/>
        </p:nvSpPr>
        <p:spPr>
          <a:xfrm>
            <a:off x="585646" y="2709087"/>
            <a:ext cx="10264575" cy="1466894"/>
          </a:xfrm>
          <a:prstGeom prst="rect">
            <a:avLst/>
          </a:prstGeom>
        </p:spPr>
        <p:txBody>
          <a:bodyPr lIns="0" tIns="0" rIns="0" bIns="0" rtlCol="0" anchor="t">
            <a:spAutoFit/>
          </a:bodyPr>
          <a:lstStyle/>
          <a:p>
            <a:pPr algn="ctr">
              <a:lnSpc>
                <a:spcPts val="10800"/>
              </a:lnSpc>
            </a:pPr>
            <a:r>
              <a:rPr lang="en-US" sz="9000">
                <a:solidFill>
                  <a:srgbClr val="2D3E70"/>
                </a:solidFill>
                <a:latin typeface="Boston Angel"/>
                <a:ea typeface="Boston Angel"/>
                <a:cs typeface="Boston Angel"/>
                <a:sym typeface="Boston Angel"/>
              </a:rPr>
              <a:t>Perangkat Transmitter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7937831" y="2079319"/>
            <a:ext cx="9321469" cy="5649750"/>
          </a:xfrm>
          <a:custGeom>
            <a:avLst/>
            <a:gdLst/>
            <a:ahLst/>
            <a:cxnLst/>
            <a:rect l="l" t="t" r="r" b="b"/>
            <a:pathLst>
              <a:path w="9321469" h="5649750">
                <a:moveTo>
                  <a:pt x="0" y="0"/>
                </a:moveTo>
                <a:lnTo>
                  <a:pt x="9321469" y="0"/>
                </a:lnTo>
                <a:lnTo>
                  <a:pt x="9321469" y="5649750"/>
                </a:lnTo>
                <a:lnTo>
                  <a:pt x="0" y="5649750"/>
                </a:lnTo>
                <a:lnTo>
                  <a:pt x="0" y="0"/>
                </a:lnTo>
                <a:close/>
              </a:path>
            </a:pathLst>
          </a:custGeom>
          <a:blipFill>
            <a:blip r:embed="rId4"/>
            <a:stretch>
              <a:fillRect/>
            </a:stretch>
          </a:blipFill>
        </p:spPr>
      </p:sp>
      <p:sp>
        <p:nvSpPr>
          <p:cNvPr id="6" name="TextBox 6"/>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AKHIR</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8" name="TextBox 8"/>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19</a:t>
            </a:r>
          </a:p>
        </p:txBody>
      </p:sp>
      <p:sp>
        <p:nvSpPr>
          <p:cNvPr id="9" name="TextBox 9"/>
          <p:cNvSpPr txBox="1"/>
          <p:nvPr/>
        </p:nvSpPr>
        <p:spPr>
          <a:xfrm>
            <a:off x="853070" y="2487464"/>
            <a:ext cx="4055096" cy="1485812"/>
          </a:xfrm>
          <a:prstGeom prst="rect">
            <a:avLst/>
          </a:prstGeom>
        </p:spPr>
        <p:txBody>
          <a:bodyPr lIns="0" tIns="0" rIns="0" bIns="0" rtlCol="0" anchor="t">
            <a:spAutoFit/>
          </a:bodyPr>
          <a:lstStyle/>
          <a:p>
            <a:pPr algn="l">
              <a:lnSpc>
                <a:spcPts val="5761"/>
              </a:lnSpc>
            </a:pPr>
            <a:r>
              <a:rPr lang="en-US" sz="4801">
                <a:solidFill>
                  <a:srgbClr val="FAF4EB"/>
                </a:solidFill>
                <a:latin typeface="Boston Angel"/>
                <a:ea typeface="Boston Angel"/>
                <a:cs typeface="Boston Angel"/>
                <a:sym typeface="Boston Angel"/>
              </a:rPr>
              <a:t>Grafik Pengujian </a:t>
            </a:r>
          </a:p>
          <a:p>
            <a:pPr algn="l">
              <a:lnSpc>
                <a:spcPts val="5761"/>
              </a:lnSpc>
            </a:pPr>
            <a:r>
              <a:rPr lang="en-US" sz="4801">
                <a:solidFill>
                  <a:srgbClr val="FAF4EB"/>
                </a:solidFill>
                <a:latin typeface="Boston Angel"/>
                <a:ea typeface="Boston Angel"/>
                <a:cs typeface="Boston Angel"/>
                <a:sym typeface="Boston Angel"/>
              </a:rPr>
              <a:t>BPM dan SpO2</a:t>
            </a:r>
          </a:p>
        </p:txBody>
      </p:sp>
      <p:sp>
        <p:nvSpPr>
          <p:cNvPr id="10" name="TextBox 10"/>
          <p:cNvSpPr txBox="1"/>
          <p:nvPr/>
        </p:nvSpPr>
        <p:spPr>
          <a:xfrm>
            <a:off x="853070" y="4285708"/>
            <a:ext cx="5731061" cy="2534925"/>
          </a:xfrm>
          <a:prstGeom prst="rect">
            <a:avLst/>
          </a:prstGeom>
        </p:spPr>
        <p:txBody>
          <a:bodyPr lIns="0" tIns="0" rIns="0" bIns="0" rtlCol="0" anchor="t">
            <a:spAutoFit/>
          </a:bodyPr>
          <a:lstStyle/>
          <a:p>
            <a:pPr algn="just">
              <a:lnSpc>
                <a:spcPts val="2520"/>
              </a:lnSpc>
            </a:pPr>
            <a:r>
              <a:rPr lang="en-US" sz="1800" dirty="0">
                <a:solidFill>
                  <a:srgbClr val="FAF4EB"/>
                </a:solidFill>
                <a:latin typeface="Be Vietnam"/>
                <a:ea typeface="Be Vietnam"/>
                <a:cs typeface="Be Vietnam"/>
                <a:sym typeface="Be Vietnam"/>
              </a:rPr>
              <a:t>Pada </a:t>
            </a:r>
            <a:r>
              <a:rPr lang="en-US" sz="1800" dirty="0" err="1">
                <a:solidFill>
                  <a:srgbClr val="FAF4EB"/>
                </a:solidFill>
                <a:latin typeface="Be Vietnam"/>
                <a:ea typeface="Be Vietnam"/>
                <a:cs typeface="Be Vietnam"/>
                <a:sym typeface="Be Vietnam"/>
              </a:rPr>
              <a:t>kondisi</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darat</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menit</a:t>
            </a:r>
            <a:r>
              <a:rPr lang="en-US" sz="1800" dirty="0">
                <a:solidFill>
                  <a:srgbClr val="FAF4EB"/>
                </a:solidFill>
                <a:latin typeface="Be Vietnam"/>
                <a:ea typeface="Be Vietnam"/>
                <a:cs typeface="Be Vietnam"/>
                <a:sym typeface="Be Vietnam"/>
              </a:rPr>
              <a:t> 0,00–1,58), sensor MAX30102 </a:t>
            </a:r>
            <a:r>
              <a:rPr lang="en-US" sz="1800" dirty="0" err="1">
                <a:solidFill>
                  <a:srgbClr val="FAF4EB"/>
                </a:solidFill>
                <a:latin typeface="Be Vietnam"/>
                <a:ea typeface="Be Vietnam"/>
                <a:cs typeface="Be Vietnam"/>
                <a:sym typeface="Be Vietnam"/>
              </a:rPr>
              <a:t>mencatat</a:t>
            </a:r>
            <a:r>
              <a:rPr lang="en-US" sz="1800" dirty="0">
                <a:solidFill>
                  <a:srgbClr val="FAF4EB"/>
                </a:solidFill>
                <a:latin typeface="Be Vietnam"/>
                <a:ea typeface="Be Vietnam"/>
                <a:cs typeface="Be Vietnam"/>
                <a:sym typeface="Be Vietnam"/>
              </a:rPr>
              <a:t> BPM (82 bpm) dan SpO</a:t>
            </a:r>
            <a:r>
              <a:rPr lang="en-US" sz="1600" dirty="0">
                <a:solidFill>
                  <a:srgbClr val="FAF4EB"/>
                </a:solidFill>
                <a:latin typeface="Be Vietnam"/>
                <a:ea typeface="Be Vietnam"/>
                <a:cs typeface="Be Vietnam"/>
                <a:sym typeface="Be Vietnam"/>
              </a:rPr>
              <a:t>2</a:t>
            </a:r>
            <a:r>
              <a:rPr lang="en-US" sz="1800" dirty="0">
                <a:solidFill>
                  <a:srgbClr val="DAD8D8"/>
                </a:solidFill>
                <a:latin typeface="Be Vietnam"/>
                <a:ea typeface="Be Vietnam"/>
                <a:cs typeface="Be Vietnam"/>
                <a:sym typeface="Be Vietnam"/>
              </a:rPr>
              <a:t> </a:t>
            </a:r>
            <a:r>
              <a:rPr lang="en-US" sz="1800" dirty="0">
                <a:solidFill>
                  <a:srgbClr val="FAF4EB"/>
                </a:solidFill>
                <a:latin typeface="Be Vietnam"/>
                <a:ea typeface="Be Vietnam"/>
                <a:cs typeface="Be Vietnam"/>
                <a:sym typeface="Be Vietnam"/>
              </a:rPr>
              <a:t>(99%) </a:t>
            </a:r>
            <a:r>
              <a:rPr lang="en-US" sz="1800" dirty="0" err="1">
                <a:solidFill>
                  <a:srgbClr val="FAF4EB"/>
                </a:solidFill>
                <a:latin typeface="Be Vietnam"/>
                <a:ea typeface="Be Vietnam"/>
                <a:cs typeface="Be Vietnam"/>
                <a:sym typeface="Be Vietnam"/>
              </a:rPr>
              <a:t>stabil</a:t>
            </a:r>
            <a:r>
              <a:rPr lang="en-US" sz="1800" dirty="0">
                <a:solidFill>
                  <a:srgbClr val="FAF4EB"/>
                </a:solidFill>
                <a:latin typeface="Be Vietnam"/>
                <a:ea typeface="Be Vietnam"/>
                <a:cs typeface="Be Vietnam"/>
                <a:sym typeface="Be Vietnam"/>
              </a:rPr>
              <a:t> pada status AMAN. </a:t>
            </a:r>
            <a:r>
              <a:rPr lang="en-US" sz="1800" dirty="0" err="1">
                <a:solidFill>
                  <a:srgbClr val="FAF4EB"/>
                </a:solidFill>
                <a:latin typeface="Be Vietnam"/>
                <a:ea typeface="Be Vietnam"/>
                <a:cs typeface="Be Vietnam"/>
                <a:sym typeface="Be Vietnam"/>
              </a:rPr>
              <a:t>Saat</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terendam</a:t>
            </a:r>
            <a:r>
              <a:rPr lang="en-US" sz="1800" dirty="0">
                <a:solidFill>
                  <a:srgbClr val="FAF4EB"/>
                </a:solidFill>
                <a:latin typeface="Be Vietnam"/>
                <a:ea typeface="Be Vietnam"/>
                <a:cs typeface="Be Vietnam"/>
                <a:sym typeface="Be Vietnam"/>
              </a:rPr>
              <a:t> air (</a:t>
            </a:r>
            <a:r>
              <a:rPr lang="en-US" sz="1800" dirty="0" err="1">
                <a:solidFill>
                  <a:srgbClr val="FAF4EB"/>
                </a:solidFill>
                <a:latin typeface="Be Vietnam"/>
                <a:ea typeface="Be Vietnam"/>
                <a:cs typeface="Be Vietnam"/>
                <a:sym typeface="Be Vietnam"/>
              </a:rPr>
              <a:t>menit</a:t>
            </a:r>
            <a:r>
              <a:rPr lang="en-US" sz="1800" dirty="0">
                <a:solidFill>
                  <a:srgbClr val="FAF4EB"/>
                </a:solidFill>
                <a:latin typeface="Be Vietnam"/>
                <a:ea typeface="Be Vietnam"/>
                <a:cs typeface="Be Vietnam"/>
                <a:sym typeface="Be Vietnam"/>
              </a:rPr>
              <a:t> 1,73), </a:t>
            </a:r>
            <a:r>
              <a:rPr lang="en-US" sz="1800" dirty="0" err="1">
                <a:solidFill>
                  <a:srgbClr val="FAF4EB"/>
                </a:solidFill>
                <a:latin typeface="Be Vietnam"/>
                <a:ea typeface="Be Vietnam"/>
                <a:cs typeface="Be Vietnam"/>
                <a:sym typeface="Be Vietnam"/>
              </a:rPr>
              <a:t>pendaran</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cahaya</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optik</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menyebabkan</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nilai</a:t>
            </a:r>
            <a:r>
              <a:rPr lang="en-US" sz="1800" dirty="0">
                <a:solidFill>
                  <a:srgbClr val="FAF4EB"/>
                </a:solidFill>
                <a:latin typeface="Be Vietnam"/>
                <a:ea typeface="Be Vietnam"/>
                <a:cs typeface="Be Vietnam"/>
                <a:sym typeface="Be Vietnam"/>
              </a:rPr>
              <a:t> BPM </a:t>
            </a:r>
            <a:r>
              <a:rPr lang="en-US" sz="1800" dirty="0" err="1">
                <a:solidFill>
                  <a:srgbClr val="FAF4EB"/>
                </a:solidFill>
                <a:latin typeface="Be Vietnam"/>
                <a:ea typeface="Be Vietnam"/>
                <a:cs typeface="Be Vietnam"/>
                <a:sym typeface="Be Vietnam"/>
              </a:rPr>
              <a:t>anjlok</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drastis</a:t>
            </a:r>
            <a:r>
              <a:rPr lang="en-US" sz="1800" dirty="0">
                <a:solidFill>
                  <a:srgbClr val="FAF4EB"/>
                </a:solidFill>
                <a:latin typeface="Be Vietnam"/>
                <a:ea typeface="Be Vietnam"/>
                <a:cs typeface="Be Vietnam"/>
                <a:sym typeface="Be Vietnam"/>
              </a:rPr>
              <a:t> (0–19 bpm) dan </a:t>
            </a:r>
            <a:r>
              <a:rPr lang="en-US" sz="1800" dirty="0" err="1">
                <a:solidFill>
                  <a:srgbClr val="FAF4EB"/>
                </a:solidFill>
                <a:latin typeface="Be Vietnam"/>
                <a:ea typeface="Be Vietnam"/>
                <a:cs typeface="Be Vietnam"/>
                <a:sym typeface="Be Vietnam"/>
              </a:rPr>
              <a:t>memicu</a:t>
            </a:r>
            <a:r>
              <a:rPr lang="en-US" sz="1800" dirty="0">
                <a:solidFill>
                  <a:srgbClr val="FAF4EB"/>
                </a:solidFill>
                <a:latin typeface="Be Vietnam"/>
                <a:ea typeface="Be Vietnam"/>
                <a:cs typeface="Be Vietnam"/>
                <a:sym typeface="Be Vietnam"/>
              </a:rPr>
              <a:t> status BAHAYA, </a:t>
            </a:r>
            <a:r>
              <a:rPr lang="en-US" sz="1800" dirty="0" err="1">
                <a:solidFill>
                  <a:srgbClr val="FAF4EB"/>
                </a:solidFill>
                <a:latin typeface="Be Vietnam"/>
                <a:ea typeface="Be Vietnam"/>
                <a:cs typeface="Be Vietnam"/>
                <a:sym typeface="Be Vietnam"/>
              </a:rPr>
              <a:t>sementara</a:t>
            </a:r>
            <a:r>
              <a:rPr lang="en-US" sz="1800" dirty="0">
                <a:solidFill>
                  <a:srgbClr val="FAF4EB"/>
                </a:solidFill>
                <a:latin typeface="Be Vietnam"/>
                <a:ea typeface="Be Vietnam"/>
                <a:cs typeface="Be Vietnam"/>
                <a:sym typeface="Be Vietnam"/>
              </a:rPr>
              <a:t> SpO2 </a:t>
            </a:r>
            <a:r>
              <a:rPr lang="en-US" sz="1800" dirty="0" err="1">
                <a:solidFill>
                  <a:srgbClr val="FAF4EB"/>
                </a:solidFill>
                <a:latin typeface="Be Vietnam"/>
                <a:ea typeface="Be Vietnam"/>
                <a:cs typeface="Be Vietnam"/>
                <a:sym typeface="Be Vietnam"/>
              </a:rPr>
              <a:t>tetap</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stabil</a:t>
            </a:r>
            <a:r>
              <a:rPr lang="en-US" sz="1800" dirty="0">
                <a:solidFill>
                  <a:srgbClr val="FAF4EB"/>
                </a:solidFill>
                <a:latin typeface="Be Vietnam"/>
                <a:ea typeface="Be Vietnam"/>
                <a:cs typeface="Be Vietnam"/>
                <a:sym typeface="Be Vietnam"/>
              </a:rPr>
              <a:t> (98–99%). </a:t>
            </a:r>
            <a:r>
              <a:rPr lang="en-US" sz="1800" dirty="0" err="1">
                <a:solidFill>
                  <a:srgbClr val="FAF4EB"/>
                </a:solidFill>
                <a:latin typeface="Be Vietnam"/>
                <a:ea typeface="Be Vietnam"/>
                <a:cs typeface="Be Vietnam"/>
                <a:sym typeface="Be Vietnam"/>
              </a:rPr>
              <a:t>Penurunan</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tajam</a:t>
            </a:r>
            <a:r>
              <a:rPr lang="en-US" sz="1800" dirty="0">
                <a:solidFill>
                  <a:srgbClr val="FAF4EB"/>
                </a:solidFill>
                <a:latin typeface="Be Vietnam"/>
                <a:ea typeface="Be Vietnam"/>
                <a:cs typeface="Be Vietnam"/>
                <a:sym typeface="Be Vietnam"/>
              </a:rPr>
              <a:t> BPM </a:t>
            </a:r>
            <a:r>
              <a:rPr lang="en-US" sz="1800" dirty="0" err="1">
                <a:solidFill>
                  <a:srgbClr val="FAF4EB"/>
                </a:solidFill>
                <a:latin typeface="Be Vietnam"/>
                <a:ea typeface="Be Vietnam"/>
                <a:cs typeface="Be Vietnam"/>
                <a:sym typeface="Be Vietnam"/>
              </a:rPr>
              <a:t>ini</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terbukti</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andal</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sebagai</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indikator</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otomatis</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kondisi</a:t>
            </a:r>
            <a:r>
              <a:rPr lang="en-US" sz="1800" dirty="0">
                <a:solidFill>
                  <a:srgbClr val="FAF4EB"/>
                </a:solidFill>
                <a:latin typeface="Be Vietnam"/>
                <a:ea typeface="Be Vietnam"/>
                <a:cs typeface="Be Vietnam"/>
                <a:sym typeface="Be Vietnam"/>
              </a:rPr>
              <a:t> </a:t>
            </a:r>
            <a:r>
              <a:rPr lang="en-US" sz="1800" dirty="0" err="1">
                <a:solidFill>
                  <a:srgbClr val="FAF4EB"/>
                </a:solidFill>
                <a:latin typeface="Be Vietnam"/>
                <a:ea typeface="Be Vietnam"/>
                <a:cs typeface="Be Vietnam"/>
                <a:sym typeface="Be Vietnam"/>
              </a:rPr>
              <a:t>tenggelam</a:t>
            </a:r>
            <a:r>
              <a:rPr lang="en-US" sz="1800" dirty="0">
                <a:solidFill>
                  <a:srgbClr val="FAF4EB"/>
                </a:solidFill>
                <a:latin typeface="Be Vietnam"/>
                <a:ea typeface="Be Vietnam"/>
                <a:cs typeface="Be Vietnam"/>
                <a:sym typeface="Be Vietnam"/>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sp>
        <p:nvSpPr>
          <p:cNvPr id="4" name="Freeform 4"/>
          <p:cNvSpPr/>
          <p:nvPr/>
        </p:nvSpPr>
        <p:spPr>
          <a:xfrm>
            <a:off x="1324945" y="3337823"/>
            <a:ext cx="7493621" cy="3472454"/>
          </a:xfrm>
          <a:custGeom>
            <a:avLst/>
            <a:gdLst/>
            <a:ahLst/>
            <a:cxnLst/>
            <a:rect l="l" t="t" r="r" b="b"/>
            <a:pathLst>
              <a:path w="7493621" h="3472454">
                <a:moveTo>
                  <a:pt x="0" y="0"/>
                </a:moveTo>
                <a:lnTo>
                  <a:pt x="7493621" y="0"/>
                </a:lnTo>
                <a:lnTo>
                  <a:pt x="7493621" y="3472454"/>
                </a:lnTo>
                <a:lnTo>
                  <a:pt x="0" y="3472454"/>
                </a:lnTo>
                <a:lnTo>
                  <a:pt x="0" y="0"/>
                </a:lnTo>
                <a:close/>
              </a:path>
            </a:pathLst>
          </a:custGeom>
          <a:blipFill>
            <a:blip r:embed="rId2"/>
            <a:stretch>
              <a:fillRect/>
            </a:stretch>
          </a:blipFill>
        </p:spPr>
      </p:sp>
      <p:sp>
        <p:nvSpPr>
          <p:cNvPr id="5" name="Freeform 5"/>
          <p:cNvSpPr/>
          <p:nvPr/>
        </p:nvSpPr>
        <p:spPr>
          <a:xfrm>
            <a:off x="9550715" y="3337823"/>
            <a:ext cx="7555695" cy="4456955"/>
          </a:xfrm>
          <a:custGeom>
            <a:avLst/>
            <a:gdLst/>
            <a:ahLst/>
            <a:cxnLst/>
            <a:rect l="l" t="t" r="r" b="b"/>
            <a:pathLst>
              <a:path w="7555695" h="4456955">
                <a:moveTo>
                  <a:pt x="0" y="0"/>
                </a:moveTo>
                <a:lnTo>
                  <a:pt x="7555695" y="0"/>
                </a:lnTo>
                <a:lnTo>
                  <a:pt x="7555695" y="4456954"/>
                </a:lnTo>
                <a:lnTo>
                  <a:pt x="0" y="4456954"/>
                </a:lnTo>
                <a:lnTo>
                  <a:pt x="0" y="0"/>
                </a:lnTo>
                <a:close/>
              </a:path>
            </a:pathLst>
          </a:custGeom>
          <a:blipFill>
            <a:blip r:embed="rId3"/>
            <a:stretch>
              <a:fillRect/>
            </a:stretch>
          </a:blipFill>
        </p:spPr>
      </p:sp>
      <p:sp>
        <p:nvSpPr>
          <p:cNvPr id="6" name="TextBox 6"/>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SIDANG AKHIR</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2026</a:t>
            </a:r>
          </a:p>
        </p:txBody>
      </p:sp>
      <p:sp>
        <p:nvSpPr>
          <p:cNvPr id="8" name="TextBox 8"/>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363A64"/>
                </a:solidFill>
                <a:latin typeface="Be Vietnam"/>
                <a:ea typeface="Be Vietnam"/>
                <a:cs typeface="Be Vietnam"/>
                <a:sym typeface="Be Vietnam"/>
              </a:rPr>
              <a:t>HALAMAN 20</a:t>
            </a:r>
          </a:p>
        </p:txBody>
      </p:sp>
      <p:sp>
        <p:nvSpPr>
          <p:cNvPr id="9" name="TextBox 9"/>
          <p:cNvSpPr txBox="1"/>
          <p:nvPr/>
        </p:nvSpPr>
        <p:spPr>
          <a:xfrm>
            <a:off x="648404" y="1792786"/>
            <a:ext cx="16991193" cy="761956"/>
          </a:xfrm>
          <a:prstGeom prst="rect">
            <a:avLst/>
          </a:prstGeom>
        </p:spPr>
        <p:txBody>
          <a:bodyPr lIns="0" tIns="0" rIns="0" bIns="0" rtlCol="0" anchor="t">
            <a:spAutoFit/>
          </a:bodyPr>
          <a:lstStyle/>
          <a:p>
            <a:pPr algn="ctr">
              <a:lnSpc>
                <a:spcPts val="5759"/>
              </a:lnSpc>
            </a:pPr>
            <a:r>
              <a:rPr lang="en-US" sz="4800">
                <a:solidFill>
                  <a:srgbClr val="2D3E70"/>
                </a:solidFill>
                <a:latin typeface="Boston Angel"/>
                <a:ea typeface="Boston Angel"/>
                <a:cs typeface="Boston Angel"/>
                <a:sym typeface="Boston Angel"/>
              </a:rPr>
              <a:t>Grafik Pengujian Jarak Komunikasi Lora di Kondisi Area Terbuka</a:t>
            </a:r>
          </a:p>
        </p:txBody>
      </p:sp>
      <p:sp>
        <p:nvSpPr>
          <p:cNvPr id="10" name="TextBox 10"/>
          <p:cNvSpPr txBox="1"/>
          <p:nvPr/>
        </p:nvSpPr>
        <p:spPr>
          <a:xfrm>
            <a:off x="1324945" y="7240054"/>
            <a:ext cx="7493621" cy="1878197"/>
          </a:xfrm>
          <a:prstGeom prst="rect">
            <a:avLst/>
          </a:prstGeom>
        </p:spPr>
        <p:txBody>
          <a:bodyPr lIns="0" tIns="0" rIns="0" bIns="0" rtlCol="0" anchor="t">
            <a:spAutoFit/>
          </a:bodyPr>
          <a:lstStyle/>
          <a:p>
            <a:pPr algn="just">
              <a:lnSpc>
                <a:spcPts val="2520"/>
              </a:lnSpc>
            </a:pPr>
            <a:r>
              <a:rPr lang="en-US" sz="1800">
                <a:solidFill>
                  <a:srgbClr val="2D3E70"/>
                </a:solidFill>
                <a:latin typeface="Be Vietnam"/>
                <a:ea typeface="Be Vietnam"/>
                <a:cs typeface="Be Vietnam"/>
                <a:sym typeface="Be Vietnam"/>
              </a:rPr>
              <a:t>Pengujian LoRa di Waduk Duriangkang menunjukkan penurunan sinyal (RSSI) yang linear terhadap jarak, dari -36 dBm (jarak 0 m) hingga -119 dBm pada jarak maksimum 1.085,71 m. Meskipun mengalami path loss pada rentang jarak 277–485 m, paket data telemetri tetap terkirim stabil tanpa packet loss, membuktikan keandalan komunikasi LoRa pada kondisi line-of-sight (LOS).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AKHIR</a:t>
            </a:r>
          </a:p>
        </p:txBody>
      </p:sp>
      <p:sp>
        <p:nvSpPr>
          <p:cNvPr id="6" name="TextBox 6"/>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7" name="TextBox 7"/>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21</a:t>
            </a:r>
          </a:p>
        </p:txBody>
      </p:sp>
      <p:sp>
        <p:nvSpPr>
          <p:cNvPr id="8" name="TextBox 8"/>
          <p:cNvSpPr txBox="1"/>
          <p:nvPr/>
        </p:nvSpPr>
        <p:spPr>
          <a:xfrm>
            <a:off x="1268294" y="1735894"/>
            <a:ext cx="15751412" cy="761956"/>
          </a:xfrm>
          <a:prstGeom prst="rect">
            <a:avLst/>
          </a:prstGeom>
        </p:spPr>
        <p:txBody>
          <a:bodyPr lIns="0" tIns="0" rIns="0" bIns="0" rtlCol="0" anchor="t">
            <a:spAutoFit/>
          </a:bodyPr>
          <a:lstStyle/>
          <a:p>
            <a:pPr algn="l">
              <a:lnSpc>
                <a:spcPts val="5761"/>
              </a:lnSpc>
            </a:pPr>
            <a:r>
              <a:rPr lang="en-US" sz="4801">
                <a:solidFill>
                  <a:srgbClr val="FAF4EB"/>
                </a:solidFill>
                <a:latin typeface="Boston Angel"/>
                <a:ea typeface="Boston Angel"/>
                <a:cs typeface="Boston Angel"/>
                <a:sym typeface="Boston Angel"/>
              </a:rPr>
              <a:t>Grafik Pengujian Jarak Komunikasi Lora di Kondisi Area Terbuka</a:t>
            </a:r>
          </a:p>
        </p:txBody>
      </p:sp>
      <p:sp>
        <p:nvSpPr>
          <p:cNvPr id="9" name="TextBox 9"/>
          <p:cNvSpPr txBox="1"/>
          <p:nvPr/>
        </p:nvSpPr>
        <p:spPr>
          <a:xfrm>
            <a:off x="1268294" y="6921134"/>
            <a:ext cx="7493621" cy="2192500"/>
          </a:xfrm>
          <a:prstGeom prst="rect">
            <a:avLst/>
          </a:prstGeom>
        </p:spPr>
        <p:txBody>
          <a:bodyPr lIns="0" tIns="0" rIns="0" bIns="0" rtlCol="0" anchor="t">
            <a:spAutoFit/>
          </a:bodyPr>
          <a:lstStyle/>
          <a:p>
            <a:pPr algn="just">
              <a:lnSpc>
                <a:spcPts val="2520"/>
              </a:lnSpc>
            </a:pPr>
            <a:r>
              <a:rPr lang="en-US" sz="1800">
                <a:solidFill>
                  <a:srgbClr val="FAF4EB"/>
                </a:solidFill>
                <a:latin typeface="Be Vietnam"/>
                <a:ea typeface="Be Vietnam"/>
                <a:cs typeface="Be Vietnam"/>
                <a:sym typeface="Be Vietnam"/>
              </a:rPr>
              <a:t>Pengujian LoRa kondisi terhalang bangunan (Non-Line-of-Sight) menunjukkan penurunan sinyal (RSSI) yang sangat curam, dari -39 dBm (jarak 0 m) merosot hingga -116 dBm pada jarak 110,27 m akibat hambatan dinding/pemukiman. Setelah jarak 130 m, sinyal berada di batas sensitivitas (-118 s.d. -121 dBm) hingga jangkauan maksimum 293,54 m, membuktikan bahwa obstruksi fisik secara signifikan mempercepat degradasi sinyal LoRa.</a:t>
            </a:r>
          </a:p>
        </p:txBody>
      </p:sp>
      <p:sp>
        <p:nvSpPr>
          <p:cNvPr id="10" name="Freeform 10"/>
          <p:cNvSpPr/>
          <p:nvPr/>
        </p:nvSpPr>
        <p:spPr>
          <a:xfrm>
            <a:off x="1268294" y="3348588"/>
            <a:ext cx="7493621" cy="3464264"/>
          </a:xfrm>
          <a:custGeom>
            <a:avLst/>
            <a:gdLst/>
            <a:ahLst/>
            <a:cxnLst/>
            <a:rect l="l" t="t" r="r" b="b"/>
            <a:pathLst>
              <a:path w="7493621" h="3464264">
                <a:moveTo>
                  <a:pt x="0" y="0"/>
                </a:moveTo>
                <a:lnTo>
                  <a:pt x="7493621" y="0"/>
                </a:lnTo>
                <a:lnTo>
                  <a:pt x="7493621" y="3464264"/>
                </a:lnTo>
                <a:lnTo>
                  <a:pt x="0" y="3464264"/>
                </a:lnTo>
                <a:lnTo>
                  <a:pt x="0" y="0"/>
                </a:lnTo>
                <a:close/>
              </a:path>
            </a:pathLst>
          </a:custGeom>
          <a:blipFill>
            <a:blip r:embed="rId4"/>
            <a:stretch>
              <a:fillRect/>
            </a:stretch>
          </a:blipFill>
        </p:spPr>
      </p:sp>
      <p:sp>
        <p:nvSpPr>
          <p:cNvPr id="11" name="Freeform 11"/>
          <p:cNvSpPr/>
          <p:nvPr/>
        </p:nvSpPr>
        <p:spPr>
          <a:xfrm>
            <a:off x="9703605" y="3348588"/>
            <a:ext cx="7555695" cy="4435083"/>
          </a:xfrm>
          <a:custGeom>
            <a:avLst/>
            <a:gdLst/>
            <a:ahLst/>
            <a:cxnLst/>
            <a:rect l="l" t="t" r="r" b="b"/>
            <a:pathLst>
              <a:path w="7555695" h="4435083">
                <a:moveTo>
                  <a:pt x="0" y="0"/>
                </a:moveTo>
                <a:lnTo>
                  <a:pt x="7555695" y="0"/>
                </a:lnTo>
                <a:lnTo>
                  <a:pt x="7555695" y="4435082"/>
                </a:lnTo>
                <a:lnTo>
                  <a:pt x="0" y="4435082"/>
                </a:lnTo>
                <a:lnTo>
                  <a:pt x="0" y="0"/>
                </a:lnTo>
                <a:close/>
              </a:path>
            </a:pathLst>
          </a:custGeom>
          <a:blipFill>
            <a:blip r:embed="rId5"/>
            <a:stretch>
              <a:fillRect/>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sp>
        <p:nvSpPr>
          <p:cNvPr id="4" name="Freeform 4"/>
          <p:cNvSpPr/>
          <p:nvPr/>
        </p:nvSpPr>
        <p:spPr>
          <a:xfrm>
            <a:off x="3063687" y="2702066"/>
            <a:ext cx="4644921" cy="5974877"/>
          </a:xfrm>
          <a:custGeom>
            <a:avLst/>
            <a:gdLst/>
            <a:ahLst/>
            <a:cxnLst/>
            <a:rect l="l" t="t" r="r" b="b"/>
            <a:pathLst>
              <a:path w="4644921" h="5974877">
                <a:moveTo>
                  <a:pt x="0" y="0"/>
                </a:moveTo>
                <a:lnTo>
                  <a:pt x="4644921" y="0"/>
                </a:lnTo>
                <a:lnTo>
                  <a:pt x="4644921" y="5974877"/>
                </a:lnTo>
                <a:lnTo>
                  <a:pt x="0" y="5974877"/>
                </a:lnTo>
                <a:lnTo>
                  <a:pt x="0" y="0"/>
                </a:lnTo>
                <a:close/>
              </a:path>
            </a:pathLst>
          </a:custGeom>
          <a:blipFill>
            <a:blip r:embed="rId2"/>
            <a:stretch>
              <a:fillRect/>
            </a:stretch>
          </a:blipFill>
        </p:spPr>
      </p:sp>
      <p:sp>
        <p:nvSpPr>
          <p:cNvPr id="5" name="Freeform 5"/>
          <p:cNvSpPr/>
          <p:nvPr/>
        </p:nvSpPr>
        <p:spPr>
          <a:xfrm>
            <a:off x="10939329" y="2702066"/>
            <a:ext cx="4876357" cy="5974877"/>
          </a:xfrm>
          <a:custGeom>
            <a:avLst/>
            <a:gdLst/>
            <a:ahLst/>
            <a:cxnLst/>
            <a:rect l="l" t="t" r="r" b="b"/>
            <a:pathLst>
              <a:path w="4876357" h="5974877">
                <a:moveTo>
                  <a:pt x="0" y="0"/>
                </a:moveTo>
                <a:lnTo>
                  <a:pt x="4876357" y="0"/>
                </a:lnTo>
                <a:lnTo>
                  <a:pt x="4876357" y="5974877"/>
                </a:lnTo>
                <a:lnTo>
                  <a:pt x="0" y="5974877"/>
                </a:lnTo>
                <a:lnTo>
                  <a:pt x="0" y="0"/>
                </a:lnTo>
                <a:close/>
              </a:path>
            </a:pathLst>
          </a:custGeom>
          <a:blipFill>
            <a:blip r:embed="rId3"/>
            <a:stretch>
              <a:fillRect/>
            </a:stretch>
          </a:blipFill>
        </p:spPr>
      </p:sp>
      <p:sp>
        <p:nvSpPr>
          <p:cNvPr id="6" name="TextBox 6"/>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SIDANG AKHIR</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2026</a:t>
            </a:r>
          </a:p>
        </p:txBody>
      </p:sp>
      <p:sp>
        <p:nvSpPr>
          <p:cNvPr id="8" name="TextBox 8"/>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363A64"/>
                </a:solidFill>
                <a:latin typeface="Be Vietnam"/>
                <a:ea typeface="Be Vietnam"/>
                <a:cs typeface="Be Vietnam"/>
                <a:sym typeface="Be Vietnam"/>
              </a:rPr>
              <a:t>HALAMAN 22</a:t>
            </a:r>
          </a:p>
        </p:txBody>
      </p:sp>
      <p:sp>
        <p:nvSpPr>
          <p:cNvPr id="9" name="TextBox 9"/>
          <p:cNvSpPr txBox="1"/>
          <p:nvPr/>
        </p:nvSpPr>
        <p:spPr>
          <a:xfrm>
            <a:off x="5545350" y="1387660"/>
            <a:ext cx="7197290" cy="761956"/>
          </a:xfrm>
          <a:prstGeom prst="rect">
            <a:avLst/>
          </a:prstGeom>
        </p:spPr>
        <p:txBody>
          <a:bodyPr lIns="0" tIns="0" rIns="0" bIns="0" rtlCol="0" anchor="t">
            <a:spAutoFit/>
          </a:bodyPr>
          <a:lstStyle/>
          <a:p>
            <a:pPr algn="ctr">
              <a:lnSpc>
                <a:spcPts val="5759"/>
              </a:lnSpc>
            </a:pPr>
            <a:r>
              <a:rPr lang="en-US" sz="4800">
                <a:solidFill>
                  <a:srgbClr val="2D3E70"/>
                </a:solidFill>
                <a:latin typeface="Boston Angel"/>
                <a:ea typeface="Boston Angel"/>
                <a:cs typeface="Boston Angel"/>
                <a:sym typeface="Boston Angel"/>
              </a:rPr>
              <a:t>Pengujian Gelang Pelampung</a:t>
            </a:r>
          </a:p>
        </p:txBody>
      </p:sp>
      <p:sp>
        <p:nvSpPr>
          <p:cNvPr id="10" name="TextBox 10"/>
          <p:cNvSpPr txBox="1"/>
          <p:nvPr/>
        </p:nvSpPr>
        <p:spPr>
          <a:xfrm>
            <a:off x="11131159" y="8629318"/>
            <a:ext cx="4492696" cy="422231"/>
          </a:xfrm>
          <a:prstGeom prst="rect">
            <a:avLst/>
          </a:prstGeom>
        </p:spPr>
        <p:txBody>
          <a:bodyPr lIns="0" tIns="0" rIns="0" bIns="0" rtlCol="0" anchor="t">
            <a:spAutoFit/>
          </a:bodyPr>
          <a:lstStyle/>
          <a:p>
            <a:pPr algn="just">
              <a:lnSpc>
                <a:spcPts val="3499"/>
              </a:lnSpc>
            </a:pPr>
            <a:r>
              <a:rPr lang="en-US" sz="2499">
                <a:solidFill>
                  <a:srgbClr val="2D3E70"/>
                </a:solidFill>
                <a:latin typeface="Be Vietnam"/>
                <a:ea typeface="Be Vietnam"/>
                <a:cs typeface="Be Vietnam"/>
                <a:sym typeface="Be Vietnam"/>
              </a:rPr>
              <a:t>Posisi Telentang (Back Float)</a:t>
            </a:r>
          </a:p>
        </p:txBody>
      </p:sp>
      <p:sp>
        <p:nvSpPr>
          <p:cNvPr id="11" name="TextBox 11"/>
          <p:cNvSpPr txBox="1"/>
          <p:nvPr/>
        </p:nvSpPr>
        <p:spPr>
          <a:xfrm>
            <a:off x="2223823" y="8629318"/>
            <a:ext cx="6324649" cy="422231"/>
          </a:xfrm>
          <a:prstGeom prst="rect">
            <a:avLst/>
          </a:prstGeom>
        </p:spPr>
        <p:txBody>
          <a:bodyPr lIns="0" tIns="0" rIns="0" bIns="0" rtlCol="0" anchor="t">
            <a:spAutoFit/>
          </a:bodyPr>
          <a:lstStyle/>
          <a:p>
            <a:pPr algn="just">
              <a:lnSpc>
                <a:spcPts val="3499"/>
              </a:lnSpc>
            </a:pPr>
            <a:r>
              <a:rPr lang="en-US" sz="2499">
                <a:solidFill>
                  <a:srgbClr val="2D3E70"/>
                </a:solidFill>
                <a:latin typeface="Be Vietnam"/>
                <a:ea typeface="Be Vietnam"/>
                <a:cs typeface="Be Vietnam"/>
                <a:sym typeface="Be Vietnam"/>
              </a:rPr>
              <a:t>Posisi Vertikal Duduk (Vertical Seat Float)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AKHIR</a:t>
            </a:r>
          </a:p>
        </p:txBody>
      </p:sp>
      <p:sp>
        <p:nvSpPr>
          <p:cNvPr id="6" name="TextBox 6"/>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7" name="TextBox 7"/>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23</a:t>
            </a:r>
          </a:p>
        </p:txBody>
      </p:sp>
      <p:sp>
        <p:nvSpPr>
          <p:cNvPr id="8" name="TextBox 8"/>
          <p:cNvSpPr txBox="1"/>
          <p:nvPr/>
        </p:nvSpPr>
        <p:spPr>
          <a:xfrm>
            <a:off x="7703612" y="1769973"/>
            <a:ext cx="2880767" cy="819150"/>
          </a:xfrm>
          <a:prstGeom prst="rect">
            <a:avLst/>
          </a:prstGeom>
        </p:spPr>
        <p:txBody>
          <a:bodyPr lIns="0" tIns="0" rIns="0" bIns="0" rtlCol="0" anchor="t">
            <a:spAutoFit/>
          </a:bodyPr>
          <a:lstStyle/>
          <a:p>
            <a:pPr algn="l">
              <a:lnSpc>
                <a:spcPts val="6001"/>
              </a:lnSpc>
            </a:pPr>
            <a:r>
              <a:rPr lang="en-US" sz="5001">
                <a:solidFill>
                  <a:srgbClr val="FAF4EB"/>
                </a:solidFill>
                <a:latin typeface="Boston Angel"/>
                <a:ea typeface="Boston Angel"/>
                <a:cs typeface="Boston Angel"/>
                <a:sym typeface="Boston Angel"/>
              </a:rPr>
              <a:t>Kesimpulan</a:t>
            </a:r>
          </a:p>
        </p:txBody>
      </p:sp>
      <p:sp>
        <p:nvSpPr>
          <p:cNvPr id="9" name="TextBox 9"/>
          <p:cNvSpPr txBox="1"/>
          <p:nvPr/>
        </p:nvSpPr>
        <p:spPr>
          <a:xfrm>
            <a:off x="2848896" y="2770098"/>
            <a:ext cx="12590208" cy="5792483"/>
          </a:xfrm>
          <a:prstGeom prst="rect">
            <a:avLst/>
          </a:prstGeom>
        </p:spPr>
        <p:txBody>
          <a:bodyPr lIns="0" tIns="0" rIns="0" bIns="0" rtlCol="0" anchor="t">
            <a:spAutoFit/>
          </a:bodyPr>
          <a:lstStyle/>
          <a:p>
            <a:pPr marL="539749" lvl="1" indent="-269875" algn="just">
              <a:lnSpc>
                <a:spcPts val="3499"/>
              </a:lnSpc>
              <a:buFont typeface="Arial"/>
              <a:buChar char="•"/>
            </a:pPr>
            <a:r>
              <a:rPr lang="en-US" sz="2499" dirty="0" err="1">
                <a:solidFill>
                  <a:srgbClr val="FAF4EB"/>
                </a:solidFill>
                <a:latin typeface="Be Vietnam"/>
                <a:ea typeface="Be Vietnam"/>
                <a:cs typeface="Be Vietnam"/>
                <a:sym typeface="Be Vietnam"/>
              </a:rPr>
              <a:t>Rancang</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Bangun</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Perangkat</a:t>
            </a:r>
            <a:endParaRPr lang="en-US" sz="2499" dirty="0">
              <a:solidFill>
                <a:srgbClr val="FAF4EB"/>
              </a:solidFill>
              <a:latin typeface="Be Vietnam"/>
              <a:ea typeface="Be Vietnam"/>
              <a:cs typeface="Be Vietnam"/>
              <a:sym typeface="Be Vietnam"/>
            </a:endParaRPr>
          </a:p>
          <a:p>
            <a:pPr algn="just">
              <a:lnSpc>
                <a:spcPts val="3499"/>
              </a:lnSpc>
            </a:pPr>
            <a:r>
              <a:rPr lang="en-US" sz="2499" dirty="0" err="1">
                <a:solidFill>
                  <a:srgbClr val="FAF4EB"/>
                </a:solidFill>
                <a:latin typeface="Be Vietnam"/>
                <a:ea typeface="Be Vietnam"/>
                <a:cs typeface="Be Vietnam"/>
                <a:sym typeface="Be Vietnam"/>
              </a:rPr>
              <a:t>Perangkat</a:t>
            </a:r>
            <a:r>
              <a:rPr lang="en-US" sz="2499" dirty="0">
                <a:solidFill>
                  <a:srgbClr val="FAF4EB"/>
                </a:solidFill>
                <a:latin typeface="Be Vietnam"/>
                <a:ea typeface="Be Vietnam"/>
                <a:cs typeface="Be Vietnam"/>
                <a:sym typeface="Be Vietnam"/>
              </a:rPr>
              <a:t> wearable </a:t>
            </a:r>
            <a:r>
              <a:rPr lang="en-US" sz="2499" dirty="0" err="1">
                <a:solidFill>
                  <a:srgbClr val="FAF4EB"/>
                </a:solidFill>
                <a:latin typeface="Be Vietnam"/>
                <a:ea typeface="Be Vietnam"/>
                <a:cs typeface="Be Vietnam"/>
                <a:sym typeface="Be Vietnam"/>
              </a:rPr>
              <a:t>terintegrasi</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mikrokontroler</a:t>
            </a:r>
            <a:r>
              <a:rPr lang="en-US" sz="2499" dirty="0">
                <a:solidFill>
                  <a:srgbClr val="FAF4EB"/>
                </a:solidFill>
                <a:latin typeface="Be Vietnam"/>
                <a:ea typeface="Be Vietnam"/>
                <a:cs typeface="Be Vietnam"/>
                <a:sym typeface="Be Vietnam"/>
              </a:rPr>
              <a:t> LoRa32, sensor MAX30102, GPS Neo-6M, dan </a:t>
            </a:r>
            <a:r>
              <a:rPr lang="en-US" sz="2499" dirty="0" err="1">
                <a:solidFill>
                  <a:srgbClr val="FAF4EB"/>
                </a:solidFill>
                <a:latin typeface="Be Vietnam"/>
                <a:ea typeface="Be Vietnam"/>
                <a:cs typeface="Be Vietnam"/>
                <a:sym typeface="Be Vietnam"/>
              </a:rPr>
              <a:t>pelampung</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otomatis</a:t>
            </a:r>
            <a:r>
              <a:rPr lang="en-US" sz="2499" dirty="0">
                <a:solidFill>
                  <a:srgbClr val="FAF4EB"/>
                </a:solidFill>
                <a:latin typeface="Be Vietnam"/>
                <a:ea typeface="Be Vietnam"/>
                <a:cs typeface="Be Vietnam"/>
                <a:sym typeface="Be Vietnam"/>
              </a:rPr>
              <a:t>.</a:t>
            </a:r>
          </a:p>
          <a:p>
            <a:pPr marL="539749" lvl="1" indent="-269875" algn="just">
              <a:lnSpc>
                <a:spcPts val="3499"/>
              </a:lnSpc>
              <a:buFont typeface="Arial"/>
              <a:buChar char="•"/>
            </a:pPr>
            <a:r>
              <a:rPr lang="en-US" sz="2499" dirty="0" err="1">
                <a:solidFill>
                  <a:srgbClr val="FAF4EB"/>
                </a:solidFill>
                <a:latin typeface="Be Vietnam"/>
                <a:ea typeface="Be Vietnam"/>
                <a:cs typeface="Be Vietnam"/>
                <a:sym typeface="Be Vietnam"/>
              </a:rPr>
              <a:t>Deteksi</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Kondisi</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Darurat</a:t>
            </a:r>
            <a:endParaRPr lang="en-US" sz="2499" dirty="0">
              <a:solidFill>
                <a:srgbClr val="FAF4EB"/>
              </a:solidFill>
              <a:latin typeface="Be Vietnam"/>
              <a:ea typeface="Be Vietnam"/>
              <a:cs typeface="Be Vietnam"/>
              <a:sym typeface="Be Vietnam"/>
            </a:endParaRPr>
          </a:p>
          <a:p>
            <a:pPr algn="just">
              <a:lnSpc>
                <a:spcPts val="3499"/>
              </a:lnSpc>
            </a:pPr>
            <a:r>
              <a:rPr lang="en-US" sz="2499" dirty="0">
                <a:solidFill>
                  <a:srgbClr val="FAF4EB"/>
                </a:solidFill>
                <a:latin typeface="Be Vietnam"/>
                <a:ea typeface="Be Vietnam"/>
                <a:cs typeface="Be Vietnam"/>
                <a:sym typeface="Be Vietnam"/>
              </a:rPr>
              <a:t>Nilai BPM normal di </a:t>
            </a:r>
            <a:r>
              <a:rPr lang="en-US" sz="2499" dirty="0" err="1">
                <a:solidFill>
                  <a:srgbClr val="FAF4EB"/>
                </a:solidFill>
                <a:latin typeface="Be Vietnam"/>
                <a:ea typeface="Be Vietnam"/>
                <a:cs typeface="Be Vietnam"/>
                <a:sym typeface="Be Vietnam"/>
              </a:rPr>
              <a:t>darat</a:t>
            </a:r>
            <a:r>
              <a:rPr lang="en-US" sz="2499" dirty="0">
                <a:solidFill>
                  <a:srgbClr val="FAF4EB"/>
                </a:solidFill>
                <a:latin typeface="Be Vietnam"/>
                <a:ea typeface="Be Vietnam"/>
                <a:cs typeface="Be Vietnam"/>
                <a:sym typeface="Be Vietnam"/>
              </a:rPr>
              <a:t> (82 BPM) </a:t>
            </a:r>
            <a:r>
              <a:rPr lang="en-US" sz="2499" dirty="0" err="1">
                <a:solidFill>
                  <a:srgbClr val="FAF4EB"/>
                </a:solidFill>
                <a:latin typeface="Be Vietnam"/>
                <a:ea typeface="Be Vietnam"/>
                <a:cs typeface="Be Vietnam"/>
                <a:sym typeface="Be Vietnam"/>
              </a:rPr>
              <a:t>anjlok</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ke</a:t>
            </a:r>
            <a:r>
              <a:rPr lang="en-US" sz="2499" dirty="0">
                <a:solidFill>
                  <a:srgbClr val="FAF4EB"/>
                </a:solidFill>
                <a:latin typeface="Be Vietnam"/>
                <a:ea typeface="Be Vietnam"/>
                <a:cs typeface="Be Vietnam"/>
                <a:sym typeface="Be Vietnam"/>
              </a:rPr>
              <a:t> 0–19 BPM </a:t>
            </a:r>
            <a:r>
              <a:rPr lang="en-US" sz="2499" dirty="0" err="1">
                <a:solidFill>
                  <a:srgbClr val="FAF4EB"/>
                </a:solidFill>
                <a:latin typeface="Be Vietnam"/>
                <a:ea typeface="Be Vietnam"/>
                <a:cs typeface="Be Vietnam"/>
                <a:sym typeface="Be Vietnam"/>
              </a:rPr>
              <a:t>saat</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terendam</a:t>
            </a:r>
            <a:r>
              <a:rPr lang="en-US" sz="2499" dirty="0">
                <a:solidFill>
                  <a:srgbClr val="FAF4EB"/>
                </a:solidFill>
                <a:latin typeface="Be Vietnam"/>
                <a:ea typeface="Be Vietnam"/>
                <a:cs typeface="Be Vietnam"/>
                <a:sym typeface="Be Vietnam"/>
              </a:rPr>
              <a:t> air, </a:t>
            </a:r>
            <a:r>
              <a:rPr lang="en-US" sz="2499" dirty="0" err="1">
                <a:solidFill>
                  <a:srgbClr val="FAF4EB"/>
                </a:solidFill>
                <a:latin typeface="Be Vietnam"/>
                <a:ea typeface="Be Vietnam"/>
                <a:cs typeface="Be Vietnam"/>
                <a:sym typeface="Be Vietnam"/>
              </a:rPr>
              <a:t>dimanfaatkan</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sistem</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sebagai</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penanda</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otomatis</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kondisi</a:t>
            </a:r>
            <a:r>
              <a:rPr lang="en-US" sz="2499" dirty="0">
                <a:solidFill>
                  <a:srgbClr val="FAF4EB"/>
                </a:solidFill>
                <a:latin typeface="Be Vietnam"/>
                <a:ea typeface="Be Vietnam"/>
                <a:cs typeface="Be Vietnam"/>
                <a:sym typeface="Be Vietnam"/>
              </a:rPr>
              <a:t> BAHAYA/</a:t>
            </a:r>
            <a:r>
              <a:rPr lang="en-US" sz="2499" dirty="0" err="1">
                <a:solidFill>
                  <a:srgbClr val="FAF4EB"/>
                </a:solidFill>
                <a:latin typeface="Be Vietnam"/>
                <a:ea typeface="Be Vietnam"/>
                <a:cs typeface="Be Vietnam"/>
                <a:sym typeface="Be Vietnam"/>
              </a:rPr>
              <a:t>tenggelam</a:t>
            </a:r>
            <a:r>
              <a:rPr lang="en-US" sz="2499" dirty="0">
                <a:solidFill>
                  <a:srgbClr val="FAF4EB"/>
                </a:solidFill>
                <a:latin typeface="Be Vietnam"/>
                <a:ea typeface="Be Vietnam"/>
                <a:cs typeface="Be Vietnam"/>
                <a:sym typeface="Be Vietnam"/>
              </a:rPr>
              <a:t>.</a:t>
            </a:r>
          </a:p>
          <a:p>
            <a:pPr marL="539749" lvl="1" indent="-269875" algn="just">
              <a:lnSpc>
                <a:spcPts val="3499"/>
              </a:lnSpc>
              <a:buFont typeface="Arial"/>
              <a:buChar char="•"/>
            </a:pPr>
            <a:r>
              <a:rPr lang="en-US" sz="2499" dirty="0" err="1">
                <a:solidFill>
                  <a:srgbClr val="FAF4EB"/>
                </a:solidFill>
                <a:latin typeface="Be Vietnam"/>
                <a:ea typeface="Be Vietnam"/>
                <a:cs typeface="Be Vietnam"/>
                <a:sym typeface="Be Vietnam"/>
              </a:rPr>
              <a:t>Jangkauan</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Komunikasi</a:t>
            </a:r>
            <a:r>
              <a:rPr lang="en-US" sz="2499" dirty="0">
                <a:solidFill>
                  <a:srgbClr val="FAF4EB"/>
                </a:solidFill>
                <a:latin typeface="Be Vietnam"/>
                <a:ea typeface="Be Vietnam"/>
                <a:cs typeface="Be Vietnam"/>
                <a:sym typeface="Be Vietnam"/>
              </a:rPr>
              <a:t> LoRa</a:t>
            </a:r>
          </a:p>
          <a:p>
            <a:pPr algn="just">
              <a:lnSpc>
                <a:spcPts val="3499"/>
              </a:lnSpc>
            </a:pPr>
            <a:r>
              <a:rPr lang="en-US" sz="2499" dirty="0">
                <a:solidFill>
                  <a:srgbClr val="FAF4EB"/>
                </a:solidFill>
                <a:latin typeface="Be Vietnam"/>
                <a:ea typeface="Be Vietnam"/>
                <a:cs typeface="Be Vietnam"/>
                <a:sym typeface="Be Vietnam"/>
              </a:rPr>
              <a:t>Area Terbuka (LOS): </a:t>
            </a:r>
            <a:r>
              <a:rPr lang="en-US" sz="2499" dirty="0" err="1">
                <a:solidFill>
                  <a:srgbClr val="FAF4EB"/>
                </a:solidFill>
                <a:latin typeface="Be Vietnam"/>
                <a:ea typeface="Be Vietnam"/>
                <a:cs typeface="Be Vietnam"/>
                <a:sym typeface="Be Vietnam"/>
              </a:rPr>
              <a:t>Mencapai</a:t>
            </a:r>
            <a:r>
              <a:rPr lang="en-US" sz="2499" dirty="0">
                <a:solidFill>
                  <a:srgbClr val="FAF4EB"/>
                </a:solidFill>
                <a:latin typeface="Be Vietnam"/>
                <a:ea typeface="Be Vietnam"/>
                <a:cs typeface="Be Vietnam"/>
                <a:sym typeface="Be Vietnam"/>
              </a:rPr>
              <a:t> 1.085,71 m (RSSI -36$ </a:t>
            </a:r>
            <a:r>
              <a:rPr lang="en-US" sz="2499" dirty="0" err="1">
                <a:solidFill>
                  <a:srgbClr val="FAF4EB"/>
                </a:solidFill>
                <a:latin typeface="Be Vietnam"/>
                <a:ea typeface="Be Vietnam"/>
                <a:cs typeface="Be Vietnam"/>
                <a:sym typeface="Be Vietnam"/>
              </a:rPr>
              <a:t>s.d.</a:t>
            </a:r>
            <a:r>
              <a:rPr lang="en-US" sz="2499" dirty="0">
                <a:solidFill>
                  <a:srgbClr val="FAF4EB"/>
                </a:solidFill>
                <a:latin typeface="Be Vietnam"/>
                <a:ea typeface="Be Vietnam"/>
                <a:cs typeface="Be Vietnam"/>
                <a:sym typeface="Be Vietnam"/>
              </a:rPr>
              <a:t> -119 dBm).</a:t>
            </a:r>
          </a:p>
          <a:p>
            <a:pPr algn="just">
              <a:lnSpc>
                <a:spcPts val="3499"/>
              </a:lnSpc>
            </a:pPr>
            <a:r>
              <a:rPr lang="en-US" sz="2499" dirty="0" err="1">
                <a:solidFill>
                  <a:srgbClr val="FAF4EB"/>
                </a:solidFill>
                <a:latin typeface="Be Vietnam"/>
                <a:ea typeface="Be Vietnam"/>
                <a:cs typeface="Be Vietnam"/>
                <a:sym typeface="Be Vietnam"/>
              </a:rPr>
              <a:t>Terhalang</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Bangunan</a:t>
            </a:r>
            <a:r>
              <a:rPr lang="en-US" sz="2499" dirty="0">
                <a:solidFill>
                  <a:srgbClr val="FAF4EB"/>
                </a:solidFill>
                <a:latin typeface="Be Vietnam"/>
                <a:ea typeface="Be Vietnam"/>
                <a:cs typeface="Be Vietnam"/>
                <a:sym typeface="Be Vietnam"/>
              </a:rPr>
              <a:t> (NLOS): </a:t>
            </a:r>
            <a:r>
              <a:rPr lang="en-US" sz="2499" dirty="0" err="1">
                <a:solidFill>
                  <a:srgbClr val="FAF4EB"/>
                </a:solidFill>
                <a:latin typeface="Be Vietnam"/>
                <a:ea typeface="Be Vietnam"/>
                <a:cs typeface="Be Vietnam"/>
                <a:sym typeface="Be Vietnam"/>
              </a:rPr>
              <a:t>Mencapai</a:t>
            </a:r>
            <a:r>
              <a:rPr lang="en-US" sz="2499" dirty="0">
                <a:solidFill>
                  <a:srgbClr val="FAF4EB"/>
                </a:solidFill>
                <a:latin typeface="Be Vietnam"/>
                <a:ea typeface="Be Vietnam"/>
                <a:cs typeface="Be Vietnam"/>
                <a:sym typeface="Be Vietnam"/>
              </a:rPr>
              <a:t> 293,54 m (RSSI -45 </a:t>
            </a:r>
            <a:r>
              <a:rPr lang="en-US" sz="2499" dirty="0" err="1">
                <a:solidFill>
                  <a:srgbClr val="FAF4EB"/>
                </a:solidFill>
                <a:latin typeface="Be Vietnam"/>
                <a:ea typeface="Be Vietnam"/>
                <a:cs typeface="Be Vietnam"/>
                <a:sym typeface="Be Vietnam"/>
              </a:rPr>
              <a:t>s.d.</a:t>
            </a:r>
            <a:r>
              <a:rPr lang="en-US" sz="2499" dirty="0">
                <a:solidFill>
                  <a:srgbClr val="FAF4EB"/>
                </a:solidFill>
                <a:latin typeface="Be Vietnam"/>
                <a:ea typeface="Be Vietnam"/>
                <a:cs typeface="Be Vietnam"/>
                <a:sym typeface="Be Vietnam"/>
              </a:rPr>
              <a:t> -121 dBm).</a:t>
            </a:r>
          </a:p>
          <a:p>
            <a:pPr marL="539749" lvl="1" indent="-269875" algn="just">
              <a:lnSpc>
                <a:spcPts val="3499"/>
              </a:lnSpc>
              <a:buFont typeface="Arial"/>
              <a:buChar char="•"/>
            </a:pPr>
            <a:r>
              <a:rPr lang="en-US" sz="2499" dirty="0" err="1">
                <a:solidFill>
                  <a:srgbClr val="FAF4EB"/>
                </a:solidFill>
                <a:latin typeface="Be Vietnam"/>
                <a:ea typeface="Be Vietnam"/>
                <a:cs typeface="Be Vietnam"/>
                <a:sym typeface="Be Vietnam"/>
              </a:rPr>
              <a:t>Sistem</a:t>
            </a:r>
            <a:r>
              <a:rPr lang="en-US" sz="2499" dirty="0">
                <a:solidFill>
                  <a:srgbClr val="FAF4EB"/>
                </a:solidFill>
                <a:latin typeface="Be Vietnam"/>
                <a:ea typeface="Be Vietnam"/>
                <a:cs typeface="Be Vietnam"/>
                <a:sym typeface="Be Vietnam"/>
              </a:rPr>
              <a:t> Monitoring Web</a:t>
            </a:r>
          </a:p>
          <a:p>
            <a:pPr algn="just">
              <a:lnSpc>
                <a:spcPts val="3499"/>
              </a:lnSpc>
            </a:pPr>
            <a:r>
              <a:rPr lang="en-US" sz="2499" dirty="0">
                <a:solidFill>
                  <a:srgbClr val="FAF4EB"/>
                </a:solidFill>
                <a:latin typeface="Be Vietnam"/>
                <a:ea typeface="Be Vietnam"/>
                <a:cs typeface="Be Vietnam"/>
                <a:sym typeface="Be Vietnam"/>
              </a:rPr>
              <a:t>Data </a:t>
            </a:r>
            <a:r>
              <a:rPr lang="en-US" sz="2499" dirty="0" err="1">
                <a:solidFill>
                  <a:srgbClr val="FAF4EB"/>
                </a:solidFill>
                <a:latin typeface="Be Vietnam"/>
                <a:ea typeface="Be Vietnam"/>
                <a:cs typeface="Be Vietnam"/>
                <a:sym typeface="Be Vietnam"/>
              </a:rPr>
              <a:t>telemetri</a:t>
            </a:r>
            <a:r>
              <a:rPr lang="en-US" sz="2499" dirty="0">
                <a:solidFill>
                  <a:srgbClr val="FAF4EB"/>
                </a:solidFill>
                <a:latin typeface="Be Vietnam"/>
                <a:ea typeface="Be Vietnam"/>
                <a:cs typeface="Be Vietnam"/>
                <a:sym typeface="Be Vietnam"/>
              </a:rPr>
              <a:t> dan </a:t>
            </a:r>
            <a:r>
              <a:rPr lang="en-US" sz="2499" dirty="0" err="1">
                <a:solidFill>
                  <a:srgbClr val="FAF4EB"/>
                </a:solidFill>
                <a:latin typeface="Be Vietnam"/>
                <a:ea typeface="Be Vietnam"/>
                <a:cs typeface="Be Vietnam"/>
                <a:sym typeface="Be Vietnam"/>
              </a:rPr>
              <a:t>lokasi</a:t>
            </a:r>
            <a:r>
              <a:rPr lang="en-US" sz="2499" dirty="0">
                <a:solidFill>
                  <a:srgbClr val="FAF4EB"/>
                </a:solidFill>
                <a:latin typeface="Be Vietnam"/>
                <a:ea typeface="Be Vietnam"/>
                <a:cs typeface="Be Vietnam"/>
                <a:sym typeface="Be Vietnam"/>
              </a:rPr>
              <a:t> GPS </a:t>
            </a:r>
            <a:r>
              <a:rPr lang="en-US" sz="2499" dirty="0" err="1">
                <a:solidFill>
                  <a:srgbClr val="FAF4EB"/>
                </a:solidFill>
                <a:latin typeface="Be Vietnam"/>
                <a:ea typeface="Be Vietnam"/>
                <a:cs typeface="Be Vietnam"/>
                <a:sym typeface="Be Vietnam"/>
              </a:rPr>
              <a:t>teridentifikasi</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secara</a:t>
            </a:r>
            <a:r>
              <a:rPr lang="en-US" sz="2499" dirty="0">
                <a:solidFill>
                  <a:srgbClr val="FAF4EB"/>
                </a:solidFill>
                <a:latin typeface="Be Vietnam"/>
                <a:ea typeface="Be Vietnam"/>
                <a:cs typeface="Be Vietnam"/>
                <a:sym typeface="Be Vietnam"/>
              </a:rPr>
              <a:t> real-time pada dashboard web </a:t>
            </a:r>
            <a:r>
              <a:rPr lang="en-US" sz="2499" dirty="0" err="1">
                <a:solidFill>
                  <a:srgbClr val="FAF4EB"/>
                </a:solidFill>
                <a:latin typeface="Be Vietnam"/>
                <a:ea typeface="Be Vietnam"/>
                <a:cs typeface="Be Vietnam"/>
                <a:sym typeface="Be Vietnam"/>
              </a:rPr>
              <a:t>melalui</a:t>
            </a:r>
            <a:r>
              <a:rPr lang="en-US" sz="2499" dirty="0">
                <a:solidFill>
                  <a:srgbClr val="FAF4EB"/>
                </a:solidFill>
                <a:latin typeface="Be Vietnam"/>
                <a:ea typeface="Be Vietnam"/>
                <a:cs typeface="Be Vietnam"/>
                <a:sym typeface="Be Vietnam"/>
              </a:rPr>
              <a:t> </a:t>
            </a:r>
            <a:r>
              <a:rPr lang="en-US" sz="2499" dirty="0" err="1">
                <a:solidFill>
                  <a:srgbClr val="FAF4EB"/>
                </a:solidFill>
                <a:latin typeface="Be Vietnam"/>
                <a:ea typeface="Be Vietnam"/>
                <a:cs typeface="Be Vietnam"/>
                <a:sym typeface="Be Vietnam"/>
              </a:rPr>
              <a:t>integrasi</a:t>
            </a:r>
            <a:r>
              <a:rPr lang="en-US" sz="2499" dirty="0">
                <a:solidFill>
                  <a:srgbClr val="FAF4EB"/>
                </a:solidFill>
                <a:latin typeface="Be Vietnam"/>
                <a:ea typeface="Be Vietnam"/>
                <a:cs typeface="Be Vietnam"/>
                <a:sym typeface="Be Vietnam"/>
              </a:rPr>
              <a:t> Google Sheets.</a:t>
            </a:r>
          </a:p>
          <a:p>
            <a:pPr algn="just">
              <a:lnSpc>
                <a:spcPts val="3499"/>
              </a:lnSpc>
            </a:pPr>
            <a:endParaRPr lang="en-US" sz="2499" dirty="0">
              <a:solidFill>
                <a:srgbClr val="FAF4EB"/>
              </a:solidFill>
              <a:latin typeface="Be Vietnam"/>
              <a:ea typeface="Be Vietnam"/>
              <a:cs typeface="Be Vietnam"/>
              <a:sym typeface="Be Vietnam"/>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AKHIR</a:t>
            </a:r>
          </a:p>
        </p:txBody>
      </p:sp>
      <p:sp>
        <p:nvSpPr>
          <p:cNvPr id="6" name="TextBox 6"/>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7" name="TextBox 7"/>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24</a:t>
            </a:r>
          </a:p>
        </p:txBody>
      </p:sp>
      <p:sp>
        <p:nvSpPr>
          <p:cNvPr id="8" name="TextBox 8"/>
          <p:cNvSpPr txBox="1"/>
          <p:nvPr/>
        </p:nvSpPr>
        <p:spPr>
          <a:xfrm>
            <a:off x="8408209" y="1769973"/>
            <a:ext cx="1471572" cy="819150"/>
          </a:xfrm>
          <a:prstGeom prst="rect">
            <a:avLst/>
          </a:prstGeom>
        </p:spPr>
        <p:txBody>
          <a:bodyPr lIns="0" tIns="0" rIns="0" bIns="0" rtlCol="0" anchor="t">
            <a:spAutoFit/>
          </a:bodyPr>
          <a:lstStyle/>
          <a:p>
            <a:pPr algn="l">
              <a:lnSpc>
                <a:spcPts val="6001"/>
              </a:lnSpc>
            </a:pPr>
            <a:r>
              <a:rPr lang="en-US" sz="5001">
                <a:solidFill>
                  <a:srgbClr val="FAF4EB"/>
                </a:solidFill>
                <a:latin typeface="Boston Angel"/>
                <a:ea typeface="Boston Angel"/>
                <a:cs typeface="Boston Angel"/>
                <a:sym typeface="Boston Angel"/>
              </a:rPr>
              <a:t>Saran</a:t>
            </a:r>
          </a:p>
        </p:txBody>
      </p:sp>
      <p:sp>
        <p:nvSpPr>
          <p:cNvPr id="9" name="TextBox 9"/>
          <p:cNvSpPr txBox="1"/>
          <p:nvPr/>
        </p:nvSpPr>
        <p:spPr>
          <a:xfrm>
            <a:off x="2848896" y="2865348"/>
            <a:ext cx="12590208" cy="5679502"/>
          </a:xfrm>
          <a:prstGeom prst="rect">
            <a:avLst/>
          </a:prstGeom>
        </p:spPr>
        <p:txBody>
          <a:bodyPr lIns="0" tIns="0" rIns="0" bIns="0" rtlCol="0" anchor="t">
            <a:spAutoFit/>
          </a:bodyPr>
          <a:lstStyle/>
          <a:p>
            <a:pPr marL="539749" lvl="1" indent="-269875" algn="just">
              <a:lnSpc>
                <a:spcPts val="3499"/>
              </a:lnSpc>
              <a:buFont typeface="Arial"/>
              <a:buChar char="•"/>
            </a:pPr>
            <a:r>
              <a:rPr lang="en-US" sz="2499">
                <a:solidFill>
                  <a:srgbClr val="FAF4EB"/>
                </a:solidFill>
                <a:latin typeface="Be Vietnam"/>
                <a:ea typeface="Be Vietnam"/>
                <a:cs typeface="Be Vietnam"/>
                <a:sym typeface="Be Vietnam"/>
              </a:rPr>
              <a:t>Peningkatan Sensor Biometrik</a:t>
            </a:r>
          </a:p>
          <a:p>
            <a:pPr algn="just">
              <a:lnSpc>
                <a:spcPts val="3499"/>
              </a:lnSpc>
            </a:pPr>
            <a:r>
              <a:rPr lang="en-US" sz="2499">
                <a:solidFill>
                  <a:srgbClr val="FAF4EB"/>
                </a:solidFill>
                <a:latin typeface="Be Vietnam"/>
                <a:ea typeface="Be Vietnam"/>
                <a:cs typeface="Be Vietnam"/>
                <a:sym typeface="Be Vietnam"/>
              </a:rPr>
              <a:t>Menggunakan sensor dengan akurasi lebih tinggi dan melakukan uji komparasi dengan alat medis standar.</a:t>
            </a:r>
          </a:p>
          <a:p>
            <a:pPr marL="539749" lvl="1" indent="-269875" algn="just">
              <a:lnSpc>
                <a:spcPts val="3499"/>
              </a:lnSpc>
              <a:buFont typeface="Arial"/>
              <a:buChar char="•"/>
            </a:pPr>
            <a:r>
              <a:rPr lang="en-US" sz="2499">
                <a:solidFill>
                  <a:srgbClr val="FAF4EB"/>
                </a:solidFill>
                <a:latin typeface="Be Vietnam"/>
                <a:ea typeface="Be Vietnam"/>
                <a:cs typeface="Be Vietnam"/>
                <a:sym typeface="Be Vietnam"/>
              </a:rPr>
              <a:t>Perluasan Uji Komunikasi LoRa</a:t>
            </a:r>
          </a:p>
          <a:p>
            <a:pPr algn="just">
              <a:lnSpc>
                <a:spcPts val="3499"/>
              </a:lnSpc>
            </a:pPr>
            <a:r>
              <a:rPr lang="en-US" sz="2499">
                <a:solidFill>
                  <a:srgbClr val="FAF4EB"/>
                </a:solidFill>
                <a:latin typeface="Be Vietnam"/>
                <a:ea typeface="Be Vietnam"/>
                <a:cs typeface="Be Vietnam"/>
                <a:sym typeface="Be Vietnam"/>
              </a:rPr>
              <a:t>Menguji jangkauan pada jarak yang lebih jauh (&gt; 1 km) serta variasi lingkungan yang lebih beragam.</a:t>
            </a:r>
          </a:p>
          <a:p>
            <a:pPr marL="539749" lvl="1" indent="-269875" algn="just">
              <a:lnSpc>
                <a:spcPts val="3499"/>
              </a:lnSpc>
              <a:buFont typeface="Arial"/>
              <a:buChar char="•"/>
            </a:pPr>
            <a:r>
              <a:rPr lang="en-US" sz="2499">
                <a:solidFill>
                  <a:srgbClr val="FAF4EB"/>
                </a:solidFill>
                <a:latin typeface="Be Vietnam"/>
                <a:ea typeface="Be Vietnam"/>
                <a:cs typeface="Be Vietnam"/>
                <a:sym typeface="Be Vietnam"/>
              </a:rPr>
              <a:t>Pengembangan Fitur Monitoring</a:t>
            </a:r>
          </a:p>
          <a:p>
            <a:pPr algn="just">
              <a:lnSpc>
                <a:spcPts val="3499"/>
              </a:lnSpc>
            </a:pPr>
            <a:r>
              <a:rPr lang="en-US" sz="2499">
                <a:solidFill>
                  <a:srgbClr val="FAF4EB"/>
                </a:solidFill>
                <a:latin typeface="Be Vietnam"/>
                <a:ea typeface="Be Vietnam"/>
                <a:cs typeface="Be Vietnam"/>
                <a:sym typeface="Be Vietnam"/>
              </a:rPr>
              <a:t>Menambahkan sistem notifikasi peringatan dini (early warning) serta visualisasi riwayat data yang lebih interaktif.</a:t>
            </a:r>
          </a:p>
          <a:p>
            <a:pPr marL="539749" lvl="1" indent="-269875" algn="just">
              <a:lnSpc>
                <a:spcPts val="3499"/>
              </a:lnSpc>
              <a:buFont typeface="Arial"/>
              <a:buChar char="•"/>
            </a:pPr>
            <a:r>
              <a:rPr lang="en-US" sz="2499">
                <a:solidFill>
                  <a:srgbClr val="FAF4EB"/>
                </a:solidFill>
                <a:latin typeface="Be Vietnam"/>
                <a:ea typeface="Be Vietnam"/>
                <a:cs typeface="Be Vietnam"/>
                <a:sym typeface="Be Vietnam"/>
              </a:rPr>
              <a:t>Proteksi Hardware &amp; Enclosure</a:t>
            </a:r>
          </a:p>
          <a:p>
            <a:pPr algn="just">
              <a:lnSpc>
                <a:spcPts val="3499"/>
              </a:lnSpc>
            </a:pPr>
            <a:r>
              <a:rPr lang="en-US" sz="2499">
                <a:solidFill>
                  <a:srgbClr val="FAF4EB"/>
                </a:solidFill>
                <a:latin typeface="Be Vietnam"/>
                <a:ea typeface="Be Vietnam"/>
                <a:cs typeface="Be Vietnam"/>
                <a:sym typeface="Be Vietnam"/>
              </a:rPr>
              <a:t>Meningkatkan ketahanan air dan kelembapan (waterproofing) pada komponen elektronik perangkat.</a:t>
            </a:r>
          </a:p>
          <a:p>
            <a:pPr algn="just">
              <a:lnSpc>
                <a:spcPts val="3499"/>
              </a:lnSpc>
            </a:pPr>
            <a:endParaRPr lang="en-US" sz="2499">
              <a:solidFill>
                <a:srgbClr val="FAF4EB"/>
              </a:solidFill>
              <a:latin typeface="Be Vietnam"/>
              <a:ea typeface="Be Vietnam"/>
              <a:cs typeface="Be Vietnam"/>
              <a:sym typeface="Be Vietnam"/>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06683"/>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SIDANG AKHIR</a:t>
            </a:r>
          </a:p>
        </p:txBody>
      </p:sp>
      <p:sp>
        <p:nvSpPr>
          <p:cNvPr id="6" name="TextBox 6"/>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2026</a:t>
            </a:r>
          </a:p>
        </p:txBody>
      </p:sp>
      <p:sp>
        <p:nvSpPr>
          <p:cNvPr id="7" name="TextBox 7"/>
          <p:cNvSpPr txBox="1"/>
          <p:nvPr/>
        </p:nvSpPr>
        <p:spPr>
          <a:xfrm>
            <a:off x="12570066" y="9562148"/>
            <a:ext cx="4689234" cy="306683"/>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HALAMAN 25</a:t>
            </a:r>
          </a:p>
        </p:txBody>
      </p:sp>
      <p:sp>
        <p:nvSpPr>
          <p:cNvPr id="8" name="TextBox 8"/>
          <p:cNvSpPr txBox="1"/>
          <p:nvPr/>
        </p:nvSpPr>
        <p:spPr>
          <a:xfrm>
            <a:off x="5180057" y="3663421"/>
            <a:ext cx="7927876" cy="1943100"/>
          </a:xfrm>
          <a:prstGeom prst="rect">
            <a:avLst/>
          </a:prstGeom>
        </p:spPr>
        <p:txBody>
          <a:bodyPr lIns="0" tIns="0" rIns="0" bIns="0" rtlCol="0" anchor="t">
            <a:spAutoFit/>
          </a:bodyPr>
          <a:lstStyle/>
          <a:p>
            <a:pPr algn="l">
              <a:lnSpc>
                <a:spcPts val="14400"/>
              </a:lnSpc>
            </a:pPr>
            <a:r>
              <a:rPr lang="en-US" sz="12000">
                <a:solidFill>
                  <a:srgbClr val="2D3E70"/>
                </a:solidFill>
                <a:latin typeface="Boston Angel"/>
                <a:ea typeface="Boston Angel"/>
                <a:cs typeface="Boston Angel"/>
                <a:sym typeface="Boston Angel"/>
              </a:rPr>
              <a:t>Terima Kasih</a:t>
            </a:r>
          </a:p>
        </p:txBody>
      </p:sp>
      <p:grpSp>
        <p:nvGrpSpPr>
          <p:cNvPr id="9" name="Group 9"/>
          <p:cNvGrpSpPr/>
          <p:nvPr/>
        </p:nvGrpSpPr>
        <p:grpSpPr>
          <a:xfrm rot="-1620">
            <a:off x="-4769" y="8228541"/>
            <a:ext cx="18297536" cy="17244"/>
            <a:chOff x="0" y="0"/>
            <a:chExt cx="13475703" cy="12700"/>
          </a:xfrm>
        </p:grpSpPr>
        <p:sp>
          <p:nvSpPr>
            <p:cNvPr id="10" name="Freeform 10"/>
            <p:cNvSpPr/>
            <p:nvPr/>
          </p:nvSpPr>
          <p:spPr>
            <a:xfrm>
              <a:off x="6350" y="0"/>
              <a:ext cx="13463015" cy="12700"/>
            </a:xfrm>
            <a:custGeom>
              <a:avLst/>
              <a:gdLst/>
              <a:ahLst/>
              <a:cxnLst/>
              <a:rect l="l" t="t" r="r" b="b"/>
              <a:pathLst>
                <a:path w="13463015" h="12700">
                  <a:moveTo>
                    <a:pt x="0" y="0"/>
                  </a:moveTo>
                  <a:lnTo>
                    <a:pt x="13463015" y="0"/>
                  </a:lnTo>
                  <a:lnTo>
                    <a:pt x="13463015" y="12700"/>
                  </a:lnTo>
                  <a:lnTo>
                    <a:pt x="0" y="12700"/>
                  </a:lnTo>
                  <a:close/>
                </a:path>
              </a:pathLst>
            </a:custGeom>
            <a:solidFill>
              <a:srgbClr val="2D3E70"/>
            </a:solidFill>
          </p:spPr>
        </p:sp>
      </p:grpSp>
      <p:sp>
        <p:nvSpPr>
          <p:cNvPr id="11" name="TextBox 11"/>
          <p:cNvSpPr txBox="1"/>
          <p:nvPr/>
        </p:nvSpPr>
        <p:spPr>
          <a:xfrm>
            <a:off x="7753319" y="5608392"/>
            <a:ext cx="2781352" cy="422275"/>
          </a:xfrm>
          <a:prstGeom prst="rect">
            <a:avLst/>
          </a:prstGeom>
        </p:spPr>
        <p:txBody>
          <a:bodyPr lIns="0" tIns="0" rIns="0" bIns="0" rtlCol="0" anchor="t">
            <a:spAutoFit/>
          </a:bodyPr>
          <a:lstStyle/>
          <a:p>
            <a:pPr algn="l">
              <a:lnSpc>
                <a:spcPts val="3499"/>
              </a:lnSpc>
            </a:pPr>
            <a:r>
              <a:rPr lang="en-US" sz="2499">
                <a:solidFill>
                  <a:srgbClr val="2D3E70"/>
                </a:solidFill>
                <a:latin typeface="Be Vietnam"/>
                <a:ea typeface="Be Vietnam"/>
                <a:cs typeface="Be Vietnam"/>
                <a:sym typeface="Be Vietnam"/>
              </a:rPr>
              <a:t>Diskusi &amp; Evaluasi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1001</Words>
  <Application>Microsoft Office PowerPoint</Application>
  <PresentationFormat>Custom</PresentationFormat>
  <Paragraphs>143</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Calibri</vt:lpstr>
      <vt:lpstr>Arial</vt:lpstr>
      <vt:lpstr>Boston Angel</vt:lpstr>
      <vt:lpstr>Be Vietnam</vt:lpstr>
      <vt:lpstr>Be Vietnam Ultra-Bold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sempro hilmy.pptx</dc:title>
  <cp:lastModifiedBy>Ananda Hilmy</cp:lastModifiedBy>
  <cp:revision>4</cp:revision>
  <dcterms:created xsi:type="dcterms:W3CDTF">2006-08-16T00:00:00Z</dcterms:created>
  <dcterms:modified xsi:type="dcterms:W3CDTF">2026-09-03T17:26:26Z</dcterms:modified>
  <dc:identifier>DAHIsZghOVc</dc:identifier>
</cp:coreProperties>
</file>