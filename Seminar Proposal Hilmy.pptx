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Be Vietnam" panose="020B0604020202020204" charset="0"/>
      <p:regular r:id="rId17"/>
    </p:embeddedFont>
    <p:embeddedFont>
      <p:font typeface="Be Vietnam Ultra-Bold" panose="020B0604020202020204" charset="0"/>
      <p:regular r:id="rId18"/>
    </p:embeddedFont>
    <p:embeddedFont>
      <p:font typeface="Boston Angel"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grpSp>
        <p:nvGrpSpPr>
          <p:cNvPr id="4" name="Group 4"/>
          <p:cNvGrpSpPr/>
          <p:nvPr/>
        </p:nvGrpSpPr>
        <p:grpSpPr>
          <a:xfrm rot="-2460">
            <a:off x="2493775" y="3953604"/>
            <a:ext cx="13295671" cy="9525"/>
            <a:chOff x="0" y="0"/>
            <a:chExt cx="17727562" cy="12700"/>
          </a:xfrm>
        </p:grpSpPr>
        <p:sp>
          <p:nvSpPr>
            <p:cNvPr id="5" name="Freeform 5"/>
            <p:cNvSpPr/>
            <p:nvPr/>
          </p:nvSpPr>
          <p:spPr>
            <a:xfrm>
              <a:off x="6350" y="0"/>
              <a:ext cx="17714849" cy="12700"/>
            </a:xfrm>
            <a:custGeom>
              <a:avLst/>
              <a:gdLst/>
              <a:ahLst/>
              <a:cxnLst/>
              <a:rect l="l" t="t" r="r" b="b"/>
              <a:pathLst>
                <a:path w="17714849" h="12700">
                  <a:moveTo>
                    <a:pt x="0" y="0"/>
                  </a:moveTo>
                  <a:lnTo>
                    <a:pt x="17714849" y="0"/>
                  </a:lnTo>
                  <a:lnTo>
                    <a:pt x="17714849" y="12700"/>
                  </a:lnTo>
                  <a:lnTo>
                    <a:pt x="0" y="12700"/>
                  </a:lnTo>
                  <a:close/>
                </a:path>
              </a:pathLst>
            </a:custGeom>
            <a:solidFill>
              <a:srgbClr val="2D3E70"/>
            </a:solidFill>
          </p:spPr>
        </p:sp>
      </p:grpSp>
      <p:grpSp>
        <p:nvGrpSpPr>
          <p:cNvPr id="6" name="Group 6"/>
          <p:cNvGrpSpPr/>
          <p:nvPr/>
        </p:nvGrpSpPr>
        <p:grpSpPr>
          <a:xfrm>
            <a:off x="2493774" y="6223392"/>
            <a:ext cx="13295681" cy="9525"/>
            <a:chOff x="0" y="0"/>
            <a:chExt cx="17727574" cy="12700"/>
          </a:xfrm>
        </p:grpSpPr>
        <p:sp>
          <p:nvSpPr>
            <p:cNvPr id="7" name="Freeform 7"/>
            <p:cNvSpPr/>
            <p:nvPr/>
          </p:nvSpPr>
          <p:spPr>
            <a:xfrm>
              <a:off x="6350" y="0"/>
              <a:ext cx="17714849" cy="12700"/>
            </a:xfrm>
            <a:custGeom>
              <a:avLst/>
              <a:gdLst/>
              <a:ahLst/>
              <a:cxnLst/>
              <a:rect l="l" t="t" r="r" b="b"/>
              <a:pathLst>
                <a:path w="17714849" h="12700">
                  <a:moveTo>
                    <a:pt x="0" y="0"/>
                  </a:moveTo>
                  <a:lnTo>
                    <a:pt x="17714849" y="0"/>
                  </a:lnTo>
                  <a:lnTo>
                    <a:pt x="17714849" y="12700"/>
                  </a:lnTo>
                  <a:lnTo>
                    <a:pt x="0" y="12700"/>
                  </a:lnTo>
                  <a:close/>
                </a:path>
              </a:pathLst>
            </a:custGeom>
            <a:solidFill>
              <a:srgbClr val="2D3E70"/>
            </a:solidFill>
          </p:spPr>
        </p:sp>
      </p:grpSp>
      <p:grpSp>
        <p:nvGrpSpPr>
          <p:cNvPr id="8" name="Group 8"/>
          <p:cNvGrpSpPr/>
          <p:nvPr/>
        </p:nvGrpSpPr>
        <p:grpSpPr>
          <a:xfrm>
            <a:off x="-4772" y="8799357"/>
            <a:ext cx="18292772" cy="1487643"/>
            <a:chOff x="0" y="0"/>
            <a:chExt cx="3763945" cy="306099"/>
          </a:xfrm>
        </p:grpSpPr>
        <p:sp>
          <p:nvSpPr>
            <p:cNvPr id="9" name="Freeform 9"/>
            <p:cNvSpPr/>
            <p:nvPr/>
          </p:nvSpPr>
          <p:spPr>
            <a:xfrm>
              <a:off x="0" y="0"/>
              <a:ext cx="3763945" cy="306099"/>
            </a:xfrm>
            <a:custGeom>
              <a:avLst/>
              <a:gdLst/>
              <a:ahLst/>
              <a:cxnLst/>
              <a:rect l="l" t="t" r="r" b="b"/>
              <a:pathLst>
                <a:path w="3763945" h="306099">
                  <a:moveTo>
                    <a:pt x="0" y="0"/>
                  </a:moveTo>
                  <a:lnTo>
                    <a:pt x="3763945" y="0"/>
                  </a:lnTo>
                  <a:lnTo>
                    <a:pt x="3763945" y="306099"/>
                  </a:lnTo>
                  <a:lnTo>
                    <a:pt x="0" y="306099"/>
                  </a:lnTo>
                  <a:close/>
                </a:path>
              </a:pathLst>
            </a:custGeom>
            <a:solidFill>
              <a:srgbClr val="2D3E70"/>
            </a:solidFill>
          </p:spPr>
        </p:sp>
        <p:sp>
          <p:nvSpPr>
            <p:cNvPr id="10" name="TextBox 10"/>
            <p:cNvSpPr txBox="1"/>
            <p:nvPr/>
          </p:nvSpPr>
          <p:spPr>
            <a:xfrm>
              <a:off x="0" y="-38100"/>
              <a:ext cx="3763945" cy="344199"/>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304925" y="243024"/>
            <a:ext cx="505062" cy="635887"/>
          </a:xfrm>
          <a:custGeom>
            <a:avLst/>
            <a:gdLst/>
            <a:ahLst/>
            <a:cxnLst/>
            <a:rect l="l" t="t" r="r" b="b"/>
            <a:pathLst>
              <a:path w="505062" h="635887">
                <a:moveTo>
                  <a:pt x="0" y="0"/>
                </a:moveTo>
                <a:lnTo>
                  <a:pt x="505062" y="0"/>
                </a:lnTo>
                <a:lnTo>
                  <a:pt x="505062" y="635886"/>
                </a:lnTo>
                <a:lnTo>
                  <a:pt x="0" y="635886"/>
                </a:lnTo>
                <a:lnTo>
                  <a:pt x="0" y="0"/>
                </a:lnTo>
                <a:close/>
              </a:path>
            </a:pathLst>
          </a:custGeom>
          <a:blipFill>
            <a:blip r:embed="rId2"/>
            <a:stretch>
              <a:fillRect/>
            </a:stretch>
          </a:blipFill>
        </p:spPr>
      </p:sp>
      <p:sp>
        <p:nvSpPr>
          <p:cNvPr id="12" name="TextBox 12"/>
          <p:cNvSpPr txBox="1"/>
          <p:nvPr/>
        </p:nvSpPr>
        <p:spPr>
          <a:xfrm>
            <a:off x="2493774" y="3920261"/>
            <a:ext cx="13295681" cy="2181847"/>
          </a:xfrm>
          <a:prstGeom prst="rect">
            <a:avLst/>
          </a:prstGeom>
        </p:spPr>
        <p:txBody>
          <a:bodyPr lIns="0" tIns="0" rIns="0" bIns="0" rtlCol="0" anchor="t">
            <a:spAutoFit/>
          </a:bodyPr>
          <a:lstStyle/>
          <a:p>
            <a:pPr algn="ctr">
              <a:lnSpc>
                <a:spcPts val="5740"/>
              </a:lnSpc>
            </a:pPr>
            <a:r>
              <a:rPr lang="en-US" sz="4099">
                <a:solidFill>
                  <a:srgbClr val="2D3E70"/>
                </a:solidFill>
                <a:latin typeface="Boston Angel"/>
                <a:ea typeface="Boston Angel"/>
                <a:cs typeface="Boston Angel"/>
                <a:sym typeface="Boston Angel"/>
              </a:rPr>
              <a:t>Perancangan dan Implementasi Smart Rescue Wristband Berbasis IoT Menggunakan Sensor Detak Jantung, GPS, dan Komunikasi LoRa pada Sistem Gelang Pelampung</a:t>
            </a:r>
          </a:p>
        </p:txBody>
      </p:sp>
      <p:sp>
        <p:nvSpPr>
          <p:cNvPr id="13" name="TextBox 13"/>
          <p:cNvSpPr txBox="1"/>
          <p:nvPr/>
        </p:nvSpPr>
        <p:spPr>
          <a:xfrm>
            <a:off x="2493774" y="1356717"/>
            <a:ext cx="13261419" cy="2520925"/>
          </a:xfrm>
          <a:prstGeom prst="rect">
            <a:avLst/>
          </a:prstGeom>
        </p:spPr>
        <p:txBody>
          <a:bodyPr lIns="0" tIns="0" rIns="0" bIns="0" rtlCol="0" anchor="t">
            <a:spAutoFit/>
          </a:bodyPr>
          <a:lstStyle/>
          <a:p>
            <a:pPr algn="ctr">
              <a:lnSpc>
                <a:spcPts val="19599"/>
              </a:lnSpc>
            </a:pPr>
            <a:r>
              <a:rPr lang="en-US" sz="13999">
                <a:solidFill>
                  <a:srgbClr val="2D3E70"/>
                </a:solidFill>
                <a:latin typeface="Boston Angel"/>
                <a:ea typeface="Boston Angel"/>
                <a:cs typeface="Boston Angel"/>
                <a:sym typeface="Boston Angel"/>
              </a:rPr>
              <a:t>Seminar Proposal</a:t>
            </a:r>
          </a:p>
        </p:txBody>
      </p:sp>
      <p:sp>
        <p:nvSpPr>
          <p:cNvPr id="14" name="TextBox 14"/>
          <p:cNvSpPr txBox="1"/>
          <p:nvPr/>
        </p:nvSpPr>
        <p:spPr>
          <a:xfrm>
            <a:off x="2493780" y="6451992"/>
            <a:ext cx="13261419" cy="590550"/>
          </a:xfrm>
          <a:prstGeom prst="rect">
            <a:avLst/>
          </a:prstGeom>
        </p:spPr>
        <p:txBody>
          <a:bodyPr lIns="0" tIns="0" rIns="0" bIns="0" rtlCol="0" anchor="t">
            <a:spAutoFit/>
          </a:bodyPr>
          <a:lstStyle/>
          <a:p>
            <a:pPr algn="ctr">
              <a:lnSpc>
                <a:spcPts val="4200"/>
              </a:lnSpc>
            </a:pPr>
            <a:r>
              <a:rPr lang="en-US" sz="3000">
                <a:solidFill>
                  <a:srgbClr val="202020"/>
                </a:solidFill>
                <a:latin typeface="Be Vietnam"/>
                <a:ea typeface="Be Vietnam"/>
                <a:cs typeface="Be Vietnam"/>
                <a:sym typeface="Be Vietnam"/>
              </a:rPr>
              <a:t>Dipresentasikan oleh </a:t>
            </a:r>
          </a:p>
        </p:txBody>
      </p:sp>
      <p:sp>
        <p:nvSpPr>
          <p:cNvPr id="15" name="TextBox 15"/>
          <p:cNvSpPr txBox="1"/>
          <p:nvPr/>
        </p:nvSpPr>
        <p:spPr>
          <a:xfrm>
            <a:off x="1897638" y="388564"/>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Institut Teknologi Batam</a:t>
            </a:r>
          </a:p>
        </p:txBody>
      </p:sp>
      <p:sp>
        <p:nvSpPr>
          <p:cNvPr id="16" name="TextBox 16"/>
          <p:cNvSpPr txBox="1"/>
          <p:nvPr/>
        </p:nvSpPr>
        <p:spPr>
          <a:xfrm>
            <a:off x="440064" y="9056532"/>
            <a:ext cx="4941506" cy="621030"/>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Pembimbing : M. Abrar Masril, M.Kom</a:t>
            </a:r>
          </a:p>
          <a:p>
            <a:pPr algn="l">
              <a:lnSpc>
                <a:spcPts val="2520"/>
              </a:lnSpc>
            </a:pPr>
            <a:endParaRPr lang="en-US" sz="1800">
              <a:solidFill>
                <a:srgbClr val="FFFFFF"/>
              </a:solidFill>
              <a:latin typeface="Be Vietnam"/>
              <a:ea typeface="Be Vietnam"/>
              <a:cs typeface="Be Vietnam"/>
              <a:sym typeface="Be Vietnam"/>
            </a:endParaRPr>
          </a:p>
        </p:txBody>
      </p:sp>
      <p:sp>
        <p:nvSpPr>
          <p:cNvPr id="17" name="TextBox 1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Teknik Komputer</a:t>
            </a:r>
          </a:p>
        </p:txBody>
      </p:sp>
      <p:sp>
        <p:nvSpPr>
          <p:cNvPr id="18" name="TextBox 18"/>
          <p:cNvSpPr txBox="1"/>
          <p:nvPr/>
        </p:nvSpPr>
        <p:spPr>
          <a:xfrm>
            <a:off x="2528035" y="7188094"/>
            <a:ext cx="13261419" cy="596875"/>
          </a:xfrm>
          <a:prstGeom prst="rect">
            <a:avLst/>
          </a:prstGeom>
        </p:spPr>
        <p:txBody>
          <a:bodyPr lIns="0" tIns="0" rIns="0" bIns="0" rtlCol="0" anchor="t">
            <a:spAutoFit/>
          </a:bodyPr>
          <a:lstStyle/>
          <a:p>
            <a:pPr algn="ctr">
              <a:lnSpc>
                <a:spcPts val="4898"/>
              </a:lnSpc>
            </a:pPr>
            <a:r>
              <a:rPr lang="en-US" sz="3499" b="1">
                <a:solidFill>
                  <a:srgbClr val="202020"/>
                </a:solidFill>
                <a:latin typeface="Be Vietnam Ultra-Bold"/>
                <a:ea typeface="Be Vietnam Ultra-Bold"/>
                <a:cs typeface="Be Vietnam Ultra-Bold"/>
                <a:sym typeface="Be Vietnam Ultra-Bold"/>
              </a:rPr>
              <a:t>Ananda Hilmy - 2222027</a:t>
            </a:r>
          </a:p>
        </p:txBody>
      </p:sp>
      <p:sp>
        <p:nvSpPr>
          <p:cNvPr id="19" name="TextBox 19"/>
          <p:cNvSpPr txBox="1"/>
          <p:nvPr/>
        </p:nvSpPr>
        <p:spPr>
          <a:xfrm>
            <a:off x="440064" y="9505079"/>
            <a:ext cx="5277869" cy="621030"/>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Pembimbing : Joni Eka Candra, S.T., M.T</a:t>
            </a:r>
          </a:p>
          <a:p>
            <a:pPr algn="l">
              <a:lnSpc>
                <a:spcPts val="2520"/>
              </a:lnSpc>
            </a:pPr>
            <a:endParaRPr lang="en-US" sz="1800">
              <a:solidFill>
                <a:srgbClr val="FFFFFF"/>
              </a:solidFill>
              <a:latin typeface="Be Vietnam"/>
              <a:ea typeface="Be Vietnam"/>
              <a:cs typeface="Be Vietnam"/>
              <a:sym typeface="Be Vietnam"/>
            </a:endParaRPr>
          </a:p>
        </p:txBody>
      </p:sp>
      <p:sp>
        <p:nvSpPr>
          <p:cNvPr id="20" name="TextBox 20"/>
          <p:cNvSpPr txBox="1"/>
          <p:nvPr/>
        </p:nvSpPr>
        <p:spPr>
          <a:xfrm>
            <a:off x="11312362" y="9056532"/>
            <a:ext cx="5530142" cy="621030"/>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Penguji : Deosa Putra Caniago, M.Kom</a:t>
            </a:r>
          </a:p>
          <a:p>
            <a:pPr algn="l">
              <a:lnSpc>
                <a:spcPts val="2520"/>
              </a:lnSpc>
            </a:pPr>
            <a:endParaRPr lang="en-US" sz="1800">
              <a:solidFill>
                <a:srgbClr val="FFFFFF"/>
              </a:solidFill>
              <a:latin typeface="Be Vietnam"/>
              <a:ea typeface="Be Vietnam"/>
              <a:cs typeface="Be Vietnam"/>
              <a:sym typeface="Be Vietnam"/>
            </a:endParaRPr>
          </a:p>
        </p:txBody>
      </p:sp>
      <p:sp>
        <p:nvSpPr>
          <p:cNvPr id="21" name="TextBox 21"/>
          <p:cNvSpPr txBox="1"/>
          <p:nvPr/>
        </p:nvSpPr>
        <p:spPr>
          <a:xfrm>
            <a:off x="11312362" y="9505079"/>
            <a:ext cx="6563604" cy="621030"/>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Dosen Penguji : Muhammad Adi Setiawan Aritonang, M.Kom</a:t>
            </a:r>
          </a:p>
          <a:p>
            <a:pPr algn="l">
              <a:lnSpc>
                <a:spcPts val="2520"/>
              </a:lnSpc>
            </a:pPr>
            <a:endParaRPr lang="en-US" sz="1800">
              <a:solidFill>
                <a:srgbClr val="FFFFFF"/>
              </a:solidFill>
              <a:latin typeface="Be Vietnam"/>
              <a:ea typeface="Be Vietnam"/>
              <a:cs typeface="Be Vietnam"/>
              <a:sym typeface="Be Vietna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SIDANG SEMINAR PROPOSAL</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02</a:t>
            </a:r>
          </a:p>
        </p:txBody>
      </p:sp>
      <p:sp>
        <p:nvSpPr>
          <p:cNvPr id="8" name="TextBox 8"/>
          <p:cNvSpPr txBox="1"/>
          <p:nvPr/>
        </p:nvSpPr>
        <p:spPr>
          <a:xfrm>
            <a:off x="1405270" y="712746"/>
            <a:ext cx="8349777" cy="2514600"/>
          </a:xfrm>
          <a:prstGeom prst="rect">
            <a:avLst/>
          </a:prstGeom>
        </p:spPr>
        <p:txBody>
          <a:bodyPr lIns="0" tIns="0" rIns="0" bIns="0" rtlCol="0" anchor="t">
            <a:spAutoFit/>
          </a:bodyPr>
          <a:lstStyle/>
          <a:p>
            <a:pPr algn="l">
              <a:lnSpc>
                <a:spcPts val="16800"/>
              </a:lnSpc>
            </a:pPr>
            <a:r>
              <a:rPr lang="en-US" sz="12000">
                <a:solidFill>
                  <a:srgbClr val="FAF4EB"/>
                </a:solidFill>
                <a:latin typeface="Boston Angel"/>
                <a:ea typeface="Boston Angel"/>
                <a:cs typeface="Boston Angel"/>
                <a:sym typeface="Boston Angel"/>
              </a:rPr>
              <a:t>Ikhtisar</a:t>
            </a:r>
          </a:p>
        </p:txBody>
      </p:sp>
      <p:grpSp>
        <p:nvGrpSpPr>
          <p:cNvPr id="9" name="Group 9"/>
          <p:cNvGrpSpPr/>
          <p:nvPr/>
        </p:nvGrpSpPr>
        <p:grpSpPr>
          <a:xfrm>
            <a:off x="1405270" y="4230646"/>
            <a:ext cx="4565990" cy="9525"/>
            <a:chOff x="0" y="0"/>
            <a:chExt cx="6087986" cy="12700"/>
          </a:xfrm>
        </p:grpSpPr>
        <p:sp>
          <p:nvSpPr>
            <p:cNvPr id="10" name="Freeform 10"/>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11" name="Group 11"/>
          <p:cNvGrpSpPr/>
          <p:nvPr/>
        </p:nvGrpSpPr>
        <p:grpSpPr>
          <a:xfrm>
            <a:off x="1405270" y="5949166"/>
            <a:ext cx="4565990" cy="9525"/>
            <a:chOff x="0" y="0"/>
            <a:chExt cx="6087986" cy="12700"/>
          </a:xfrm>
        </p:grpSpPr>
        <p:sp>
          <p:nvSpPr>
            <p:cNvPr id="12" name="Freeform 12"/>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13" name="Group 13"/>
          <p:cNvGrpSpPr/>
          <p:nvPr/>
        </p:nvGrpSpPr>
        <p:grpSpPr>
          <a:xfrm>
            <a:off x="1405270" y="7575645"/>
            <a:ext cx="4565990" cy="9525"/>
            <a:chOff x="0" y="0"/>
            <a:chExt cx="6087986" cy="12700"/>
          </a:xfrm>
        </p:grpSpPr>
        <p:sp>
          <p:nvSpPr>
            <p:cNvPr id="14" name="Freeform 14"/>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15" name="Group 15"/>
          <p:cNvGrpSpPr/>
          <p:nvPr/>
        </p:nvGrpSpPr>
        <p:grpSpPr>
          <a:xfrm>
            <a:off x="1405270" y="5087325"/>
            <a:ext cx="4565990" cy="9525"/>
            <a:chOff x="0" y="0"/>
            <a:chExt cx="6087986" cy="12700"/>
          </a:xfrm>
        </p:grpSpPr>
        <p:sp>
          <p:nvSpPr>
            <p:cNvPr id="16" name="Freeform 16"/>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17" name="Group 17"/>
          <p:cNvGrpSpPr/>
          <p:nvPr/>
        </p:nvGrpSpPr>
        <p:grpSpPr>
          <a:xfrm>
            <a:off x="1405270" y="6805844"/>
            <a:ext cx="4565990" cy="9525"/>
            <a:chOff x="0" y="0"/>
            <a:chExt cx="6087986" cy="12700"/>
          </a:xfrm>
        </p:grpSpPr>
        <p:sp>
          <p:nvSpPr>
            <p:cNvPr id="18" name="Freeform 18"/>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19" name="Group 19"/>
          <p:cNvGrpSpPr/>
          <p:nvPr/>
        </p:nvGrpSpPr>
        <p:grpSpPr>
          <a:xfrm>
            <a:off x="1405270" y="8432324"/>
            <a:ext cx="4565990" cy="9525"/>
            <a:chOff x="0" y="0"/>
            <a:chExt cx="6087986" cy="12700"/>
          </a:xfrm>
        </p:grpSpPr>
        <p:sp>
          <p:nvSpPr>
            <p:cNvPr id="20" name="Freeform 20"/>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sp>
        <p:nvSpPr>
          <p:cNvPr id="21" name="TextBox 21"/>
          <p:cNvSpPr txBox="1"/>
          <p:nvPr/>
        </p:nvSpPr>
        <p:spPr>
          <a:xfrm>
            <a:off x="1411819" y="4420743"/>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Latar Belakang Masalah</a:t>
            </a:r>
          </a:p>
        </p:txBody>
      </p:sp>
      <p:sp>
        <p:nvSpPr>
          <p:cNvPr id="22" name="TextBox 22"/>
          <p:cNvSpPr txBox="1"/>
          <p:nvPr/>
        </p:nvSpPr>
        <p:spPr>
          <a:xfrm>
            <a:off x="1405270" y="6139263"/>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Batasan Masalah</a:t>
            </a:r>
          </a:p>
        </p:txBody>
      </p:sp>
      <p:sp>
        <p:nvSpPr>
          <p:cNvPr id="23" name="TextBox 23"/>
          <p:cNvSpPr txBox="1"/>
          <p:nvPr/>
        </p:nvSpPr>
        <p:spPr>
          <a:xfrm>
            <a:off x="1405270" y="7765742"/>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Manfaat Penelitian</a:t>
            </a:r>
          </a:p>
        </p:txBody>
      </p:sp>
      <p:sp>
        <p:nvSpPr>
          <p:cNvPr id="24" name="TextBox 24"/>
          <p:cNvSpPr txBox="1"/>
          <p:nvPr/>
        </p:nvSpPr>
        <p:spPr>
          <a:xfrm>
            <a:off x="1405270" y="5282584"/>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Rumusan Masalah</a:t>
            </a:r>
          </a:p>
        </p:txBody>
      </p:sp>
      <p:sp>
        <p:nvSpPr>
          <p:cNvPr id="25" name="TextBox 25"/>
          <p:cNvSpPr txBox="1"/>
          <p:nvPr/>
        </p:nvSpPr>
        <p:spPr>
          <a:xfrm>
            <a:off x="1411819" y="6909064"/>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Tujuan</a:t>
            </a:r>
          </a:p>
        </p:txBody>
      </p:sp>
      <p:sp>
        <p:nvSpPr>
          <p:cNvPr id="26" name="TextBox 26"/>
          <p:cNvSpPr txBox="1"/>
          <p:nvPr/>
        </p:nvSpPr>
        <p:spPr>
          <a:xfrm>
            <a:off x="1405270" y="3560721"/>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BAB I Pendahuluan</a:t>
            </a:r>
          </a:p>
        </p:txBody>
      </p:sp>
      <p:grpSp>
        <p:nvGrpSpPr>
          <p:cNvPr id="27" name="Group 27"/>
          <p:cNvGrpSpPr/>
          <p:nvPr/>
        </p:nvGrpSpPr>
        <p:grpSpPr>
          <a:xfrm>
            <a:off x="6855391" y="4230646"/>
            <a:ext cx="4565990" cy="9525"/>
            <a:chOff x="0" y="0"/>
            <a:chExt cx="6087986" cy="12700"/>
          </a:xfrm>
        </p:grpSpPr>
        <p:sp>
          <p:nvSpPr>
            <p:cNvPr id="28" name="Freeform 28"/>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29" name="Group 29"/>
          <p:cNvGrpSpPr/>
          <p:nvPr/>
        </p:nvGrpSpPr>
        <p:grpSpPr>
          <a:xfrm>
            <a:off x="6855391" y="5949166"/>
            <a:ext cx="4565990" cy="9525"/>
            <a:chOff x="0" y="0"/>
            <a:chExt cx="6087986" cy="12700"/>
          </a:xfrm>
        </p:grpSpPr>
        <p:sp>
          <p:nvSpPr>
            <p:cNvPr id="30" name="Freeform 30"/>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31" name="Group 31"/>
          <p:cNvGrpSpPr/>
          <p:nvPr/>
        </p:nvGrpSpPr>
        <p:grpSpPr>
          <a:xfrm>
            <a:off x="6855391" y="5087325"/>
            <a:ext cx="4565990" cy="9525"/>
            <a:chOff x="0" y="0"/>
            <a:chExt cx="6087986" cy="12700"/>
          </a:xfrm>
        </p:grpSpPr>
        <p:sp>
          <p:nvSpPr>
            <p:cNvPr id="32" name="Freeform 32"/>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sp>
        <p:nvSpPr>
          <p:cNvPr id="33" name="TextBox 33"/>
          <p:cNvSpPr txBox="1"/>
          <p:nvPr/>
        </p:nvSpPr>
        <p:spPr>
          <a:xfrm>
            <a:off x="6861941" y="4420743"/>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Penelitian Terdahulu</a:t>
            </a:r>
          </a:p>
        </p:txBody>
      </p:sp>
      <p:sp>
        <p:nvSpPr>
          <p:cNvPr id="34" name="TextBox 34"/>
          <p:cNvSpPr txBox="1"/>
          <p:nvPr/>
        </p:nvSpPr>
        <p:spPr>
          <a:xfrm>
            <a:off x="6855391" y="5282584"/>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State of The Art</a:t>
            </a:r>
          </a:p>
        </p:txBody>
      </p:sp>
      <p:sp>
        <p:nvSpPr>
          <p:cNvPr id="35" name="TextBox 35"/>
          <p:cNvSpPr txBox="1"/>
          <p:nvPr/>
        </p:nvSpPr>
        <p:spPr>
          <a:xfrm>
            <a:off x="6855391" y="3560721"/>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BAB II Kajian Pustaka</a:t>
            </a:r>
          </a:p>
        </p:txBody>
      </p:sp>
      <p:grpSp>
        <p:nvGrpSpPr>
          <p:cNvPr id="36" name="Group 36"/>
          <p:cNvGrpSpPr/>
          <p:nvPr/>
        </p:nvGrpSpPr>
        <p:grpSpPr>
          <a:xfrm>
            <a:off x="12316731" y="4230646"/>
            <a:ext cx="4565990" cy="9525"/>
            <a:chOff x="0" y="0"/>
            <a:chExt cx="6087986" cy="12700"/>
          </a:xfrm>
        </p:grpSpPr>
        <p:sp>
          <p:nvSpPr>
            <p:cNvPr id="37" name="Freeform 37"/>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38" name="Group 38"/>
          <p:cNvGrpSpPr/>
          <p:nvPr/>
        </p:nvGrpSpPr>
        <p:grpSpPr>
          <a:xfrm>
            <a:off x="12316731" y="5949166"/>
            <a:ext cx="4565990" cy="9525"/>
            <a:chOff x="0" y="0"/>
            <a:chExt cx="6087986" cy="12700"/>
          </a:xfrm>
        </p:grpSpPr>
        <p:sp>
          <p:nvSpPr>
            <p:cNvPr id="39" name="Freeform 39"/>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grpSp>
        <p:nvGrpSpPr>
          <p:cNvPr id="40" name="Group 40"/>
          <p:cNvGrpSpPr/>
          <p:nvPr/>
        </p:nvGrpSpPr>
        <p:grpSpPr>
          <a:xfrm>
            <a:off x="12316731" y="5087325"/>
            <a:ext cx="4565990" cy="9525"/>
            <a:chOff x="0" y="0"/>
            <a:chExt cx="6087986" cy="12700"/>
          </a:xfrm>
        </p:grpSpPr>
        <p:sp>
          <p:nvSpPr>
            <p:cNvPr id="41" name="Freeform 41"/>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sp>
        <p:nvSpPr>
          <p:cNvPr id="42" name="TextBox 42"/>
          <p:cNvSpPr txBox="1"/>
          <p:nvPr/>
        </p:nvSpPr>
        <p:spPr>
          <a:xfrm>
            <a:off x="12323280" y="4420743"/>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Diagram Alur Penelitian</a:t>
            </a:r>
          </a:p>
        </p:txBody>
      </p:sp>
      <p:sp>
        <p:nvSpPr>
          <p:cNvPr id="43" name="TextBox 43"/>
          <p:cNvSpPr txBox="1"/>
          <p:nvPr/>
        </p:nvSpPr>
        <p:spPr>
          <a:xfrm>
            <a:off x="12316731" y="5282584"/>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Metode Penelitian</a:t>
            </a:r>
          </a:p>
        </p:txBody>
      </p:sp>
      <p:sp>
        <p:nvSpPr>
          <p:cNvPr id="44" name="TextBox 44"/>
          <p:cNvSpPr txBox="1"/>
          <p:nvPr/>
        </p:nvSpPr>
        <p:spPr>
          <a:xfrm>
            <a:off x="12316731" y="3560721"/>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BAB III Metode Penelitian</a:t>
            </a:r>
          </a:p>
        </p:txBody>
      </p:sp>
      <p:grpSp>
        <p:nvGrpSpPr>
          <p:cNvPr id="45" name="Group 45"/>
          <p:cNvGrpSpPr/>
          <p:nvPr/>
        </p:nvGrpSpPr>
        <p:grpSpPr>
          <a:xfrm>
            <a:off x="12323280" y="6796319"/>
            <a:ext cx="4565990" cy="9525"/>
            <a:chOff x="0" y="0"/>
            <a:chExt cx="6087986" cy="12700"/>
          </a:xfrm>
        </p:grpSpPr>
        <p:sp>
          <p:nvSpPr>
            <p:cNvPr id="46" name="Freeform 46"/>
            <p:cNvSpPr/>
            <p:nvPr/>
          </p:nvSpPr>
          <p:spPr>
            <a:xfrm>
              <a:off x="4366" y="0"/>
              <a:ext cx="6079280" cy="12700"/>
            </a:xfrm>
            <a:custGeom>
              <a:avLst/>
              <a:gdLst/>
              <a:ahLst/>
              <a:cxnLst/>
              <a:rect l="l" t="t" r="r" b="b"/>
              <a:pathLst>
                <a:path w="6079280" h="12700">
                  <a:moveTo>
                    <a:pt x="0" y="0"/>
                  </a:moveTo>
                  <a:lnTo>
                    <a:pt x="6079280" y="0"/>
                  </a:lnTo>
                  <a:lnTo>
                    <a:pt x="6079280" y="12700"/>
                  </a:lnTo>
                  <a:lnTo>
                    <a:pt x="0" y="12700"/>
                  </a:lnTo>
                  <a:close/>
                </a:path>
              </a:pathLst>
            </a:custGeom>
            <a:solidFill>
              <a:srgbClr val="FFFFFF"/>
            </a:solidFill>
          </p:spPr>
        </p:sp>
      </p:grpSp>
      <p:sp>
        <p:nvSpPr>
          <p:cNvPr id="47" name="TextBox 47"/>
          <p:cNvSpPr txBox="1"/>
          <p:nvPr/>
        </p:nvSpPr>
        <p:spPr>
          <a:xfrm>
            <a:off x="12323280" y="6129738"/>
            <a:ext cx="4559440" cy="431800"/>
          </a:xfrm>
          <a:prstGeom prst="rect">
            <a:avLst/>
          </a:prstGeom>
        </p:spPr>
        <p:txBody>
          <a:bodyPr lIns="0" tIns="0" rIns="0" bIns="0" rtlCol="0" anchor="t">
            <a:spAutoFit/>
          </a:bodyPr>
          <a:lstStyle/>
          <a:p>
            <a:pPr algn="l">
              <a:lnSpc>
                <a:spcPts val="3500"/>
              </a:lnSpc>
            </a:pPr>
            <a:r>
              <a:rPr lang="en-US" sz="2499">
                <a:solidFill>
                  <a:srgbClr val="FAF4EB"/>
                </a:solidFill>
                <a:latin typeface="Be Vietnam"/>
                <a:ea typeface="Be Vietnam"/>
                <a:cs typeface="Be Vietnam"/>
                <a:sym typeface="Be Vietnam"/>
              </a:rPr>
              <a:t>Bahan dan Alat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6" name="TextBox 6"/>
          <p:cNvSpPr txBox="1"/>
          <p:nvPr/>
        </p:nvSpPr>
        <p:spPr>
          <a:xfrm>
            <a:off x="12570066" y="388048"/>
            <a:ext cx="4689234" cy="621030"/>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a:p>
            <a:pPr algn="r">
              <a:lnSpc>
                <a:spcPts val="2520"/>
              </a:lnSpc>
            </a:pPr>
            <a:endParaRPr lang="en-US" sz="1800">
              <a:solidFill>
                <a:srgbClr val="FFFFFF"/>
              </a:solidFill>
              <a:latin typeface="Be Vietnam"/>
              <a:ea typeface="Be Vietnam"/>
              <a:cs typeface="Be Vietnam"/>
              <a:sym typeface="Be Vietnam"/>
            </a:endParaRPr>
          </a:p>
        </p:txBody>
      </p:sp>
      <p:sp>
        <p:nvSpPr>
          <p:cNvPr id="7" name="TextBox 7"/>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03</a:t>
            </a:r>
          </a:p>
        </p:txBody>
      </p:sp>
      <p:sp>
        <p:nvSpPr>
          <p:cNvPr id="8" name="TextBox 8"/>
          <p:cNvSpPr txBox="1"/>
          <p:nvPr/>
        </p:nvSpPr>
        <p:spPr>
          <a:xfrm>
            <a:off x="1028695" y="1325969"/>
            <a:ext cx="11541366" cy="2171700"/>
          </a:xfrm>
          <a:prstGeom prst="rect">
            <a:avLst/>
          </a:prstGeom>
        </p:spPr>
        <p:txBody>
          <a:bodyPr lIns="0" tIns="0" rIns="0" bIns="0" rtlCol="0" anchor="t">
            <a:spAutoFit/>
          </a:bodyPr>
          <a:lstStyle/>
          <a:p>
            <a:pPr algn="l">
              <a:lnSpc>
                <a:spcPts val="16800"/>
              </a:lnSpc>
            </a:pPr>
            <a:r>
              <a:rPr lang="en-US" sz="12000">
                <a:solidFill>
                  <a:srgbClr val="FAF4EB"/>
                </a:solidFill>
                <a:latin typeface="Boston Angel"/>
                <a:ea typeface="Boston Angel"/>
                <a:cs typeface="Boston Angel"/>
                <a:sym typeface="Boston Angel"/>
              </a:rPr>
              <a:t>Latar Belakang</a:t>
            </a:r>
          </a:p>
        </p:txBody>
      </p:sp>
      <p:sp>
        <p:nvSpPr>
          <p:cNvPr id="9" name="TextBox 9"/>
          <p:cNvSpPr txBox="1"/>
          <p:nvPr/>
        </p:nvSpPr>
        <p:spPr>
          <a:xfrm>
            <a:off x="1028695" y="3773894"/>
            <a:ext cx="7750906" cy="4365625"/>
          </a:xfrm>
          <a:prstGeom prst="rect">
            <a:avLst/>
          </a:prstGeom>
        </p:spPr>
        <p:txBody>
          <a:bodyPr lIns="0" tIns="0" rIns="0" bIns="0" rtlCol="0" anchor="t">
            <a:spAutoFit/>
          </a:bodyPr>
          <a:lstStyle/>
          <a:p>
            <a:pPr algn="just">
              <a:lnSpc>
                <a:spcPts val="3499"/>
              </a:lnSpc>
            </a:pPr>
            <a:r>
              <a:rPr lang="en-US" sz="2499">
                <a:solidFill>
                  <a:srgbClr val="FAF4EB"/>
                </a:solidFill>
                <a:latin typeface="Be Vietnam"/>
                <a:ea typeface="Be Vietnam"/>
                <a:cs typeface="Be Vietnam"/>
                <a:sym typeface="Be Vietnam"/>
              </a:rPr>
              <a:t>Tingginya aktivitas transportasi laut di Kepulauan Riau meningkatkan risiko kecelakaan, seperti insiden kapal tugboat terbalik di Batam yang menimbulkan korban jiwa, menunjukkan masih lemahnya sistem keselamatan dan keterlambatan penanganan darurat (Hanum et al., 2023). Oleh karena itu, diperlukan pemanfaatan teknologi yang mampu mendukung deteksi dini dan pengiriman informasi secara real-time guna meningkatkan efektivitas proses penyelamatan.</a:t>
            </a:r>
          </a:p>
        </p:txBody>
      </p:sp>
      <p:sp>
        <p:nvSpPr>
          <p:cNvPr id="10" name="TextBox 10"/>
          <p:cNvSpPr txBox="1"/>
          <p:nvPr/>
        </p:nvSpPr>
        <p:spPr>
          <a:xfrm>
            <a:off x="9508389" y="3773894"/>
            <a:ext cx="7750906" cy="3051175"/>
          </a:xfrm>
          <a:prstGeom prst="rect">
            <a:avLst/>
          </a:prstGeom>
        </p:spPr>
        <p:txBody>
          <a:bodyPr lIns="0" tIns="0" rIns="0" bIns="0" rtlCol="0" anchor="t">
            <a:spAutoFit/>
          </a:bodyPr>
          <a:lstStyle/>
          <a:p>
            <a:pPr algn="just">
              <a:lnSpc>
                <a:spcPts val="3499"/>
              </a:lnSpc>
            </a:pPr>
            <a:r>
              <a:rPr lang="en-US" sz="2499">
                <a:solidFill>
                  <a:srgbClr val="FAF4EB"/>
                </a:solidFill>
                <a:latin typeface="Be Vietnam"/>
                <a:ea typeface="Be Vietnam"/>
                <a:cs typeface="Be Vietnam"/>
                <a:sym typeface="Be Vietnam"/>
              </a:rPr>
              <a:t> Berdasarkan latar belakang permasalahan tersebut, maka dalam penelitian ini diangkat judul “</a:t>
            </a:r>
            <a:r>
              <a:rPr lang="en-US" sz="2499" b="1">
                <a:solidFill>
                  <a:srgbClr val="FAF4EB"/>
                </a:solidFill>
                <a:latin typeface="Be Vietnam Ultra-Bold"/>
                <a:ea typeface="Be Vietnam Ultra-Bold"/>
                <a:cs typeface="Be Vietnam Ultra-Bold"/>
                <a:sym typeface="Be Vietnam Ultra-Bold"/>
              </a:rPr>
              <a:t>Perancangan dan Implementasi Smart Rescue Wristband Berbasis IoT Menggunakan Sensor Detak Jantung, GPS, dan Komunikasi LoRa pada Sistem Gelang Pelampung</a:t>
            </a:r>
            <a:r>
              <a:rPr lang="en-US" sz="2499">
                <a:solidFill>
                  <a:srgbClr val="FAF4EB"/>
                </a:solidFill>
                <a:latin typeface="Be Vietnam"/>
                <a:ea typeface="Be Vietnam"/>
                <a:cs typeface="Be Vietnam"/>
                <a:sym typeface="Be Vietnam"/>
              </a:rPr>
              <a:t>”.</a:t>
            </a:r>
          </a:p>
          <a:p>
            <a:pPr algn="just">
              <a:lnSpc>
                <a:spcPts val="3499"/>
              </a:lnSpc>
            </a:pPr>
            <a:endParaRPr lang="en-US" sz="2499">
              <a:solidFill>
                <a:srgbClr val="FAF4EB"/>
              </a:solidFill>
              <a:latin typeface="Be Vietnam"/>
              <a:ea typeface="Be Vietnam"/>
              <a:cs typeface="Be Vietnam"/>
              <a:sym typeface="Be Vietna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Seminar Proposal</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04</a:t>
            </a:r>
          </a:p>
        </p:txBody>
      </p:sp>
      <p:sp>
        <p:nvSpPr>
          <p:cNvPr id="8" name="TextBox 8"/>
          <p:cNvSpPr txBox="1"/>
          <p:nvPr/>
        </p:nvSpPr>
        <p:spPr>
          <a:xfrm>
            <a:off x="8407251" y="2972453"/>
            <a:ext cx="8852049" cy="3771900"/>
          </a:xfrm>
          <a:prstGeom prst="rect">
            <a:avLst/>
          </a:prstGeom>
        </p:spPr>
        <p:txBody>
          <a:bodyPr lIns="0" tIns="0" rIns="0" bIns="0" rtlCol="0" anchor="t">
            <a:spAutoFit/>
          </a:bodyPr>
          <a:lstStyle/>
          <a:p>
            <a:pPr algn="r">
              <a:lnSpc>
                <a:spcPts val="14400"/>
              </a:lnSpc>
            </a:pPr>
            <a:r>
              <a:rPr lang="en-US" sz="12000">
                <a:solidFill>
                  <a:srgbClr val="2D3E70"/>
                </a:solidFill>
                <a:latin typeface="Boston Angel"/>
                <a:ea typeface="Boston Angel"/>
                <a:cs typeface="Boston Angel"/>
                <a:sym typeface="Boston Angel"/>
              </a:rPr>
              <a:t>Rumusan Masalah</a:t>
            </a:r>
          </a:p>
        </p:txBody>
      </p:sp>
      <p:sp>
        <p:nvSpPr>
          <p:cNvPr id="9" name="TextBox 9"/>
          <p:cNvSpPr txBox="1"/>
          <p:nvPr/>
        </p:nvSpPr>
        <p:spPr>
          <a:xfrm>
            <a:off x="1033462" y="1208762"/>
            <a:ext cx="9088397" cy="1736725"/>
          </a:xfrm>
          <a:prstGeom prst="rect">
            <a:avLst/>
          </a:prstGeom>
        </p:spPr>
        <p:txBody>
          <a:bodyPr lIns="0" tIns="0" rIns="0" bIns="0" rtlCol="0" anchor="t">
            <a:spAutoFit/>
          </a:bodyPr>
          <a:lstStyle/>
          <a:p>
            <a:pPr algn="just">
              <a:lnSpc>
                <a:spcPts val="3499"/>
              </a:lnSpc>
            </a:pPr>
            <a:r>
              <a:rPr lang="en-US" sz="2499">
                <a:solidFill>
                  <a:srgbClr val="202020"/>
                </a:solidFill>
                <a:latin typeface="Be Vietnam"/>
                <a:ea typeface="Be Vietnam"/>
                <a:cs typeface="Be Vietnam"/>
                <a:sym typeface="Be Vietnam"/>
              </a:rPr>
              <a:t>Bagaimana merancang perangkat Smart Rescue Wristband berbasis IoT yang mampu digunakan sebagai perangkat pendukung keselamatan pengguna di lingkungan perairan?</a:t>
            </a:r>
          </a:p>
          <a:p>
            <a:pPr algn="just">
              <a:lnSpc>
                <a:spcPts val="3500"/>
              </a:lnSpc>
            </a:pPr>
            <a:endParaRPr lang="en-US" sz="2499">
              <a:solidFill>
                <a:srgbClr val="202020"/>
              </a:solidFill>
              <a:latin typeface="Be Vietnam"/>
              <a:ea typeface="Be Vietnam"/>
              <a:cs typeface="Be Vietnam"/>
              <a:sym typeface="Be Vietnam"/>
            </a:endParaRPr>
          </a:p>
        </p:txBody>
      </p:sp>
      <p:sp>
        <p:nvSpPr>
          <p:cNvPr id="10" name="TextBox 10"/>
          <p:cNvSpPr txBox="1"/>
          <p:nvPr/>
        </p:nvSpPr>
        <p:spPr>
          <a:xfrm>
            <a:off x="1033462" y="2846780"/>
            <a:ext cx="9088397" cy="2174875"/>
          </a:xfrm>
          <a:prstGeom prst="rect">
            <a:avLst/>
          </a:prstGeom>
        </p:spPr>
        <p:txBody>
          <a:bodyPr lIns="0" tIns="0" rIns="0" bIns="0" rtlCol="0" anchor="t">
            <a:spAutoFit/>
          </a:bodyPr>
          <a:lstStyle/>
          <a:p>
            <a:pPr algn="just">
              <a:lnSpc>
                <a:spcPts val="3499"/>
              </a:lnSpc>
            </a:pPr>
            <a:r>
              <a:rPr lang="en-US" sz="2499">
                <a:solidFill>
                  <a:srgbClr val="202020"/>
                </a:solidFill>
                <a:latin typeface="Be Vietnam"/>
                <a:ea typeface="Be Vietnam"/>
                <a:cs typeface="Be Vietnam"/>
                <a:sym typeface="Be Vietnam"/>
              </a:rPr>
              <a:t>Bagaimana mengintegrasikan sensor detak jantung, modul GPS, dan komunikasi LoRa dalam satu sistem yang mampu mentransmisikan data fisiologis dan lokasi secara real-time?</a:t>
            </a:r>
          </a:p>
          <a:p>
            <a:pPr algn="just">
              <a:lnSpc>
                <a:spcPts val="3500"/>
              </a:lnSpc>
            </a:pPr>
            <a:endParaRPr lang="en-US" sz="2499">
              <a:solidFill>
                <a:srgbClr val="202020"/>
              </a:solidFill>
              <a:latin typeface="Be Vietnam"/>
              <a:ea typeface="Be Vietnam"/>
              <a:cs typeface="Be Vietnam"/>
              <a:sym typeface="Be Vietnam"/>
            </a:endParaRPr>
          </a:p>
        </p:txBody>
      </p:sp>
      <p:sp>
        <p:nvSpPr>
          <p:cNvPr id="11" name="TextBox 11"/>
          <p:cNvSpPr txBox="1"/>
          <p:nvPr/>
        </p:nvSpPr>
        <p:spPr>
          <a:xfrm>
            <a:off x="1033462" y="4867928"/>
            <a:ext cx="9088397" cy="1736725"/>
          </a:xfrm>
          <a:prstGeom prst="rect">
            <a:avLst/>
          </a:prstGeom>
        </p:spPr>
        <p:txBody>
          <a:bodyPr lIns="0" tIns="0" rIns="0" bIns="0" rtlCol="0" anchor="t">
            <a:spAutoFit/>
          </a:bodyPr>
          <a:lstStyle/>
          <a:p>
            <a:pPr algn="just">
              <a:lnSpc>
                <a:spcPts val="3499"/>
              </a:lnSpc>
            </a:pPr>
            <a:r>
              <a:rPr lang="en-US" sz="2499">
                <a:solidFill>
                  <a:srgbClr val="202020"/>
                </a:solidFill>
                <a:latin typeface="Be Vietnam"/>
                <a:ea typeface="Be Vietnam"/>
                <a:cs typeface="Be Vietnam"/>
                <a:sym typeface="Be Vietnam"/>
              </a:rPr>
              <a:t>Bagaimana merancang sistem monitoring berbasis dashboard untuk menampilkan data lokasi dan kondisi detak jantung pengguna secara real-time?</a:t>
            </a:r>
          </a:p>
          <a:p>
            <a:pPr algn="just">
              <a:lnSpc>
                <a:spcPts val="3500"/>
              </a:lnSpc>
            </a:pPr>
            <a:endParaRPr lang="en-US" sz="2499">
              <a:solidFill>
                <a:srgbClr val="202020"/>
              </a:solidFill>
              <a:latin typeface="Be Vietnam"/>
              <a:ea typeface="Be Vietnam"/>
              <a:cs typeface="Be Vietnam"/>
              <a:sym typeface="Be Vietnam"/>
            </a:endParaRPr>
          </a:p>
        </p:txBody>
      </p:sp>
      <p:grpSp>
        <p:nvGrpSpPr>
          <p:cNvPr id="12" name="Group 12"/>
          <p:cNvGrpSpPr/>
          <p:nvPr/>
        </p:nvGrpSpPr>
        <p:grpSpPr>
          <a:xfrm>
            <a:off x="1028700" y="2763623"/>
            <a:ext cx="9093160" cy="13044"/>
            <a:chOff x="0" y="0"/>
            <a:chExt cx="8853640" cy="12700"/>
          </a:xfrm>
        </p:grpSpPr>
        <p:sp>
          <p:nvSpPr>
            <p:cNvPr id="13" name="Freeform 13"/>
            <p:cNvSpPr/>
            <p:nvPr/>
          </p:nvSpPr>
          <p:spPr>
            <a:xfrm>
              <a:off x="6350" y="0"/>
              <a:ext cx="8840978" cy="12700"/>
            </a:xfrm>
            <a:custGeom>
              <a:avLst/>
              <a:gdLst/>
              <a:ahLst/>
              <a:cxnLst/>
              <a:rect l="l" t="t" r="r" b="b"/>
              <a:pathLst>
                <a:path w="8840978" h="12700">
                  <a:moveTo>
                    <a:pt x="0" y="0"/>
                  </a:moveTo>
                  <a:lnTo>
                    <a:pt x="8840978" y="0"/>
                  </a:lnTo>
                  <a:lnTo>
                    <a:pt x="8840978" y="12700"/>
                  </a:lnTo>
                  <a:lnTo>
                    <a:pt x="0" y="12700"/>
                  </a:lnTo>
                  <a:close/>
                </a:path>
              </a:pathLst>
            </a:custGeom>
            <a:solidFill>
              <a:srgbClr val="2D3E70"/>
            </a:solidFill>
          </p:spPr>
        </p:sp>
      </p:grpSp>
      <p:grpSp>
        <p:nvGrpSpPr>
          <p:cNvPr id="14" name="Group 14"/>
          <p:cNvGrpSpPr/>
          <p:nvPr/>
        </p:nvGrpSpPr>
        <p:grpSpPr>
          <a:xfrm>
            <a:off x="1028700" y="4784771"/>
            <a:ext cx="9093160" cy="13044"/>
            <a:chOff x="0" y="0"/>
            <a:chExt cx="8853640" cy="12700"/>
          </a:xfrm>
        </p:grpSpPr>
        <p:sp>
          <p:nvSpPr>
            <p:cNvPr id="15" name="Freeform 15"/>
            <p:cNvSpPr/>
            <p:nvPr/>
          </p:nvSpPr>
          <p:spPr>
            <a:xfrm>
              <a:off x="6350" y="0"/>
              <a:ext cx="8840978" cy="12700"/>
            </a:xfrm>
            <a:custGeom>
              <a:avLst/>
              <a:gdLst/>
              <a:ahLst/>
              <a:cxnLst/>
              <a:rect l="l" t="t" r="r" b="b"/>
              <a:pathLst>
                <a:path w="8840978" h="12700">
                  <a:moveTo>
                    <a:pt x="0" y="0"/>
                  </a:moveTo>
                  <a:lnTo>
                    <a:pt x="8840978" y="0"/>
                  </a:lnTo>
                  <a:lnTo>
                    <a:pt x="8840978" y="12700"/>
                  </a:lnTo>
                  <a:lnTo>
                    <a:pt x="0" y="12700"/>
                  </a:lnTo>
                  <a:close/>
                </a:path>
              </a:pathLst>
            </a:custGeom>
            <a:solidFill>
              <a:srgbClr val="2D3E70"/>
            </a:solidFill>
          </p:spPr>
        </p:sp>
      </p:grpSp>
      <p:sp>
        <p:nvSpPr>
          <p:cNvPr id="16" name="TextBox 16"/>
          <p:cNvSpPr txBox="1"/>
          <p:nvPr/>
        </p:nvSpPr>
        <p:spPr>
          <a:xfrm>
            <a:off x="1033462" y="6417588"/>
            <a:ext cx="9088397" cy="2613025"/>
          </a:xfrm>
          <a:prstGeom prst="rect">
            <a:avLst/>
          </a:prstGeom>
        </p:spPr>
        <p:txBody>
          <a:bodyPr lIns="0" tIns="0" rIns="0" bIns="0" rtlCol="0" anchor="t">
            <a:spAutoFit/>
          </a:bodyPr>
          <a:lstStyle/>
          <a:p>
            <a:pPr algn="just">
              <a:lnSpc>
                <a:spcPts val="3499"/>
              </a:lnSpc>
            </a:pPr>
            <a:r>
              <a:rPr lang="en-US" sz="2499">
                <a:solidFill>
                  <a:srgbClr val="202020"/>
                </a:solidFill>
                <a:latin typeface="Be Vietnam"/>
                <a:ea typeface="Be Vietnam"/>
                <a:cs typeface="Be Vietnam"/>
                <a:sym typeface="Be Vietnam"/>
              </a:rPr>
              <a:t>Bagaimana hasil pengujian dan evaluasi kinerja sistem yang dikembangkan ditinjau dari aspek akurasi sensor detak jantung, keandalan komunikasi LoRa, jangkauan transmisi, delay pengiriman data, serta efisiensi konsumsi daya perangkat?</a:t>
            </a:r>
          </a:p>
          <a:p>
            <a:pPr algn="just">
              <a:lnSpc>
                <a:spcPts val="3500"/>
              </a:lnSpc>
            </a:pPr>
            <a:endParaRPr lang="en-US" sz="2499">
              <a:solidFill>
                <a:srgbClr val="202020"/>
              </a:solidFill>
              <a:latin typeface="Be Vietnam"/>
              <a:ea typeface="Be Vietnam"/>
              <a:cs typeface="Be Vietnam"/>
              <a:sym typeface="Be Vietnam"/>
            </a:endParaRPr>
          </a:p>
        </p:txBody>
      </p:sp>
      <p:grpSp>
        <p:nvGrpSpPr>
          <p:cNvPr id="17" name="Group 17"/>
          <p:cNvGrpSpPr/>
          <p:nvPr/>
        </p:nvGrpSpPr>
        <p:grpSpPr>
          <a:xfrm>
            <a:off x="1028700" y="6334431"/>
            <a:ext cx="9093160" cy="13044"/>
            <a:chOff x="0" y="0"/>
            <a:chExt cx="8853640" cy="12700"/>
          </a:xfrm>
        </p:grpSpPr>
        <p:sp>
          <p:nvSpPr>
            <p:cNvPr id="18" name="Freeform 18"/>
            <p:cNvSpPr/>
            <p:nvPr/>
          </p:nvSpPr>
          <p:spPr>
            <a:xfrm>
              <a:off x="6350" y="0"/>
              <a:ext cx="8840978" cy="12700"/>
            </a:xfrm>
            <a:custGeom>
              <a:avLst/>
              <a:gdLst/>
              <a:ahLst/>
              <a:cxnLst/>
              <a:rect l="l" t="t" r="r" b="b"/>
              <a:pathLst>
                <a:path w="8840978" h="12700">
                  <a:moveTo>
                    <a:pt x="0" y="0"/>
                  </a:moveTo>
                  <a:lnTo>
                    <a:pt x="8840978" y="0"/>
                  </a:lnTo>
                  <a:lnTo>
                    <a:pt x="8840978" y="12700"/>
                  </a:lnTo>
                  <a:lnTo>
                    <a:pt x="0" y="12700"/>
                  </a:lnTo>
                  <a:close/>
                </a:path>
              </a:pathLst>
            </a:custGeom>
            <a:solidFill>
              <a:srgbClr val="2D3E70"/>
            </a:solid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448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SIDANG SKRIPSI</a:t>
            </a:r>
          </a:p>
        </p:txBody>
      </p:sp>
      <p:sp>
        <p:nvSpPr>
          <p:cNvPr id="6" name="TextBox 6"/>
          <p:cNvSpPr txBox="1"/>
          <p:nvPr/>
        </p:nvSpPr>
        <p:spPr>
          <a:xfrm>
            <a:off x="12570066" y="388048"/>
            <a:ext cx="4689234" cy="3448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2024</a:t>
            </a:r>
          </a:p>
        </p:txBody>
      </p:sp>
      <p:sp>
        <p:nvSpPr>
          <p:cNvPr id="7" name="TextBox 7"/>
          <p:cNvSpPr txBox="1"/>
          <p:nvPr/>
        </p:nvSpPr>
        <p:spPr>
          <a:xfrm>
            <a:off x="1028700" y="9562148"/>
            <a:ext cx="4689234" cy="3448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JUDUL SKRIPSI</a:t>
            </a:r>
          </a:p>
        </p:txBody>
      </p:sp>
      <p:sp>
        <p:nvSpPr>
          <p:cNvPr id="8" name="TextBox 8"/>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05</a:t>
            </a:r>
          </a:p>
        </p:txBody>
      </p:sp>
      <p:sp>
        <p:nvSpPr>
          <p:cNvPr id="9" name="TextBox 9"/>
          <p:cNvSpPr txBox="1"/>
          <p:nvPr/>
        </p:nvSpPr>
        <p:spPr>
          <a:xfrm>
            <a:off x="1028710" y="1242527"/>
            <a:ext cx="9779596" cy="1943100"/>
          </a:xfrm>
          <a:prstGeom prst="rect">
            <a:avLst/>
          </a:prstGeom>
        </p:spPr>
        <p:txBody>
          <a:bodyPr lIns="0" tIns="0" rIns="0" bIns="0" rtlCol="0" anchor="t">
            <a:spAutoFit/>
          </a:bodyPr>
          <a:lstStyle/>
          <a:p>
            <a:pPr algn="l">
              <a:lnSpc>
                <a:spcPts val="14400"/>
              </a:lnSpc>
            </a:pPr>
            <a:r>
              <a:rPr lang="en-US" sz="12000">
                <a:solidFill>
                  <a:srgbClr val="2D3E70"/>
                </a:solidFill>
                <a:latin typeface="Boston Angel"/>
                <a:ea typeface="Boston Angel"/>
                <a:cs typeface="Boston Angel"/>
                <a:sym typeface="Boston Angel"/>
              </a:rPr>
              <a:t>Batasan Masalah</a:t>
            </a:r>
          </a:p>
        </p:txBody>
      </p:sp>
      <p:sp>
        <p:nvSpPr>
          <p:cNvPr id="10" name="TextBox 10"/>
          <p:cNvSpPr txBox="1"/>
          <p:nvPr/>
        </p:nvSpPr>
        <p:spPr>
          <a:xfrm>
            <a:off x="3130434" y="3442948"/>
            <a:ext cx="5182109" cy="2463800"/>
          </a:xfrm>
          <a:prstGeom prst="rect">
            <a:avLst/>
          </a:prstGeom>
        </p:spPr>
        <p:txBody>
          <a:bodyPr lIns="0" tIns="0" rIns="0" bIns="0" rtlCol="0" anchor="t">
            <a:spAutoFit/>
          </a:bodyPr>
          <a:lstStyle/>
          <a:p>
            <a:pPr algn="just">
              <a:lnSpc>
                <a:spcPts val="2800"/>
              </a:lnSpc>
            </a:pPr>
            <a:r>
              <a:rPr lang="en-US" sz="2000">
                <a:solidFill>
                  <a:srgbClr val="202020"/>
                </a:solidFill>
                <a:latin typeface="Be Vietnam"/>
                <a:ea typeface="Be Vietnam"/>
                <a:cs typeface="Be Vietnam"/>
                <a:sym typeface="Be Vietnam"/>
              </a:rPr>
              <a:t>Sistem yang dikembangkan berupa prototype Smart Rescue Wristband berbasis IoT yang menggunakan mikrokontroler ESP32, sensor detak jantung berbasis PPG, modul GPS, dan komunikasi LoRa.</a:t>
            </a:r>
          </a:p>
          <a:p>
            <a:pPr algn="l">
              <a:lnSpc>
                <a:spcPts val="2800"/>
              </a:lnSpc>
            </a:pPr>
            <a:endParaRPr lang="en-US" sz="2000">
              <a:solidFill>
                <a:srgbClr val="202020"/>
              </a:solidFill>
              <a:latin typeface="Be Vietnam"/>
              <a:ea typeface="Be Vietnam"/>
              <a:cs typeface="Be Vietnam"/>
              <a:sym typeface="Be Vietnam"/>
            </a:endParaRPr>
          </a:p>
        </p:txBody>
      </p:sp>
      <p:grpSp>
        <p:nvGrpSpPr>
          <p:cNvPr id="11" name="Group 11"/>
          <p:cNvGrpSpPr/>
          <p:nvPr/>
        </p:nvGrpSpPr>
        <p:grpSpPr>
          <a:xfrm rot="-6300">
            <a:off x="3125662" y="3349022"/>
            <a:ext cx="5186877" cy="9525"/>
            <a:chOff x="0" y="0"/>
            <a:chExt cx="6915836" cy="12700"/>
          </a:xfrm>
        </p:grpSpPr>
        <p:sp>
          <p:nvSpPr>
            <p:cNvPr id="12" name="Freeform 12"/>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D3E70"/>
            </a:solidFill>
          </p:spPr>
        </p:sp>
      </p:grpSp>
      <p:sp>
        <p:nvSpPr>
          <p:cNvPr id="13" name="TextBox 13"/>
          <p:cNvSpPr txBox="1"/>
          <p:nvPr/>
        </p:nvSpPr>
        <p:spPr>
          <a:xfrm>
            <a:off x="3135210" y="6491192"/>
            <a:ext cx="5182109" cy="2463800"/>
          </a:xfrm>
          <a:prstGeom prst="rect">
            <a:avLst/>
          </a:prstGeom>
        </p:spPr>
        <p:txBody>
          <a:bodyPr lIns="0" tIns="0" rIns="0" bIns="0" rtlCol="0" anchor="t">
            <a:spAutoFit/>
          </a:bodyPr>
          <a:lstStyle/>
          <a:p>
            <a:pPr algn="just">
              <a:lnSpc>
                <a:spcPts val="2800"/>
              </a:lnSpc>
            </a:pPr>
            <a:r>
              <a:rPr lang="en-US" sz="2000">
                <a:solidFill>
                  <a:srgbClr val="202020"/>
                </a:solidFill>
                <a:latin typeface="Be Vietnam"/>
                <a:ea typeface="Be Vietnam"/>
                <a:cs typeface="Be Vietnam"/>
                <a:sym typeface="Be Vietnam"/>
              </a:rPr>
              <a:t>Sistem komunikasi yang digunakan adalah LoRa point-to-point antara perangkat dan gateway, serta tidak membahas implementasi LoRaWAN skala luas maupun sistem komunikasi berbasis satelit.</a:t>
            </a:r>
          </a:p>
          <a:p>
            <a:pPr algn="l">
              <a:lnSpc>
                <a:spcPts val="2800"/>
              </a:lnSpc>
            </a:pPr>
            <a:endParaRPr lang="en-US" sz="2000">
              <a:solidFill>
                <a:srgbClr val="202020"/>
              </a:solidFill>
              <a:latin typeface="Be Vietnam"/>
              <a:ea typeface="Be Vietnam"/>
              <a:cs typeface="Be Vietnam"/>
              <a:sym typeface="Be Vietnam"/>
            </a:endParaRPr>
          </a:p>
        </p:txBody>
      </p:sp>
      <p:grpSp>
        <p:nvGrpSpPr>
          <p:cNvPr id="14" name="Group 14"/>
          <p:cNvGrpSpPr/>
          <p:nvPr/>
        </p:nvGrpSpPr>
        <p:grpSpPr>
          <a:xfrm rot="-6300">
            <a:off x="3130438" y="6397266"/>
            <a:ext cx="5186877" cy="9525"/>
            <a:chOff x="0" y="0"/>
            <a:chExt cx="6915836" cy="12700"/>
          </a:xfrm>
        </p:grpSpPr>
        <p:sp>
          <p:nvSpPr>
            <p:cNvPr id="15" name="Freeform 15"/>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D3E70"/>
            </a:solidFill>
          </p:spPr>
        </p:sp>
      </p:grpSp>
      <p:sp>
        <p:nvSpPr>
          <p:cNvPr id="16" name="TextBox 16"/>
          <p:cNvSpPr txBox="1"/>
          <p:nvPr/>
        </p:nvSpPr>
        <p:spPr>
          <a:xfrm>
            <a:off x="9980233" y="3442948"/>
            <a:ext cx="5182109" cy="2816225"/>
          </a:xfrm>
          <a:prstGeom prst="rect">
            <a:avLst/>
          </a:prstGeom>
        </p:spPr>
        <p:txBody>
          <a:bodyPr lIns="0" tIns="0" rIns="0" bIns="0" rtlCol="0" anchor="t">
            <a:spAutoFit/>
          </a:bodyPr>
          <a:lstStyle/>
          <a:p>
            <a:pPr algn="just">
              <a:lnSpc>
                <a:spcPts val="2800"/>
              </a:lnSpc>
            </a:pPr>
            <a:r>
              <a:rPr lang="en-US" sz="2000">
                <a:solidFill>
                  <a:srgbClr val="202020"/>
                </a:solidFill>
                <a:latin typeface="Be Vietnam"/>
                <a:ea typeface="Be Vietnam"/>
                <a:cs typeface="Be Vietnam"/>
                <a:sym typeface="Be Vietnam"/>
              </a:rPr>
              <a:t>Sistem monitoring dikembangkan dalam bentuk dashboard berbasis web untuk menampilkan data detak jantung dan lokasi pengguna secara real-time, tanpa mencakup pengembangan aplikasi mobile atau sistem keamanan tingkat lanjut.</a:t>
            </a:r>
          </a:p>
          <a:p>
            <a:pPr algn="l">
              <a:lnSpc>
                <a:spcPts val="2800"/>
              </a:lnSpc>
            </a:pPr>
            <a:endParaRPr lang="en-US" sz="2000">
              <a:solidFill>
                <a:srgbClr val="202020"/>
              </a:solidFill>
              <a:latin typeface="Be Vietnam"/>
              <a:ea typeface="Be Vietnam"/>
              <a:cs typeface="Be Vietnam"/>
              <a:sym typeface="Be Vietnam"/>
            </a:endParaRPr>
          </a:p>
        </p:txBody>
      </p:sp>
      <p:grpSp>
        <p:nvGrpSpPr>
          <p:cNvPr id="17" name="Group 17"/>
          <p:cNvGrpSpPr/>
          <p:nvPr/>
        </p:nvGrpSpPr>
        <p:grpSpPr>
          <a:xfrm rot="-6300">
            <a:off x="9975461" y="3349022"/>
            <a:ext cx="5186877" cy="9525"/>
            <a:chOff x="0" y="0"/>
            <a:chExt cx="6915836" cy="12700"/>
          </a:xfrm>
        </p:grpSpPr>
        <p:sp>
          <p:nvSpPr>
            <p:cNvPr id="18" name="Freeform 18"/>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D3E70"/>
            </a:solidFill>
          </p:spPr>
        </p:sp>
      </p:grpSp>
      <p:sp>
        <p:nvSpPr>
          <p:cNvPr id="19" name="TextBox 19"/>
          <p:cNvSpPr txBox="1"/>
          <p:nvPr/>
        </p:nvSpPr>
        <p:spPr>
          <a:xfrm>
            <a:off x="9980233" y="6481677"/>
            <a:ext cx="5182109" cy="2111375"/>
          </a:xfrm>
          <a:prstGeom prst="rect">
            <a:avLst/>
          </a:prstGeom>
        </p:spPr>
        <p:txBody>
          <a:bodyPr lIns="0" tIns="0" rIns="0" bIns="0" rtlCol="0" anchor="t">
            <a:spAutoFit/>
          </a:bodyPr>
          <a:lstStyle/>
          <a:p>
            <a:pPr algn="just">
              <a:lnSpc>
                <a:spcPts val="2800"/>
              </a:lnSpc>
            </a:pPr>
            <a:r>
              <a:rPr lang="en-US" sz="2000">
                <a:solidFill>
                  <a:srgbClr val="202020"/>
                </a:solidFill>
                <a:latin typeface="Be Vietnam"/>
                <a:ea typeface="Be Vietnam"/>
                <a:cs typeface="Be Vietnam"/>
                <a:sym typeface="Be Vietnam"/>
              </a:rPr>
              <a:t>Pengujian sistem difokuskan pada evaluasi akurasi sensor, performa komunikasi LoRa (jangkauan dan delay), serta analisis konsumsi daya dalam skenario simulasi lingkungan perairan.</a:t>
            </a:r>
          </a:p>
          <a:p>
            <a:pPr algn="l">
              <a:lnSpc>
                <a:spcPts val="2800"/>
              </a:lnSpc>
            </a:pPr>
            <a:endParaRPr lang="en-US" sz="2000">
              <a:solidFill>
                <a:srgbClr val="202020"/>
              </a:solidFill>
              <a:latin typeface="Be Vietnam"/>
              <a:ea typeface="Be Vietnam"/>
              <a:cs typeface="Be Vietnam"/>
              <a:sym typeface="Be Vietnam"/>
            </a:endParaRPr>
          </a:p>
        </p:txBody>
      </p:sp>
      <p:grpSp>
        <p:nvGrpSpPr>
          <p:cNvPr id="20" name="Group 20"/>
          <p:cNvGrpSpPr/>
          <p:nvPr/>
        </p:nvGrpSpPr>
        <p:grpSpPr>
          <a:xfrm rot="-6300">
            <a:off x="9975461" y="6387751"/>
            <a:ext cx="5186877" cy="9525"/>
            <a:chOff x="0" y="0"/>
            <a:chExt cx="6915836" cy="12700"/>
          </a:xfrm>
        </p:grpSpPr>
        <p:sp>
          <p:nvSpPr>
            <p:cNvPr id="21" name="Freeform 21"/>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D3E70"/>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7" name="TextBox 7"/>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06</a:t>
            </a:r>
          </a:p>
        </p:txBody>
      </p:sp>
      <p:sp>
        <p:nvSpPr>
          <p:cNvPr id="8" name="TextBox 8"/>
          <p:cNvSpPr txBox="1"/>
          <p:nvPr/>
        </p:nvSpPr>
        <p:spPr>
          <a:xfrm>
            <a:off x="1028700" y="3832846"/>
            <a:ext cx="4951824" cy="1943100"/>
          </a:xfrm>
          <a:prstGeom prst="rect">
            <a:avLst/>
          </a:prstGeom>
        </p:spPr>
        <p:txBody>
          <a:bodyPr lIns="0" tIns="0" rIns="0" bIns="0" rtlCol="0" anchor="t">
            <a:spAutoFit/>
          </a:bodyPr>
          <a:lstStyle/>
          <a:p>
            <a:pPr algn="l">
              <a:lnSpc>
                <a:spcPts val="14400"/>
              </a:lnSpc>
            </a:pPr>
            <a:r>
              <a:rPr lang="en-US" sz="12000">
                <a:solidFill>
                  <a:srgbClr val="FAF4EB"/>
                </a:solidFill>
                <a:latin typeface="Boston Angel"/>
                <a:ea typeface="Boston Angel"/>
                <a:cs typeface="Boston Angel"/>
                <a:sym typeface="Boston Angel"/>
              </a:rPr>
              <a:t>Tujuan </a:t>
            </a:r>
          </a:p>
        </p:txBody>
      </p:sp>
      <p:sp>
        <p:nvSpPr>
          <p:cNvPr id="9" name="TextBox 9"/>
          <p:cNvSpPr txBox="1"/>
          <p:nvPr/>
        </p:nvSpPr>
        <p:spPr>
          <a:xfrm>
            <a:off x="7454847" y="2092960"/>
            <a:ext cx="8599151" cy="1544320"/>
          </a:xfrm>
          <a:prstGeom prst="rect">
            <a:avLst/>
          </a:prstGeom>
        </p:spPr>
        <p:txBody>
          <a:bodyPr lIns="0" tIns="0" rIns="0" bIns="0" rtlCol="0" anchor="t">
            <a:spAutoFit/>
          </a:bodyPr>
          <a:lstStyle/>
          <a:p>
            <a:pPr algn="just">
              <a:lnSpc>
                <a:spcPts val="3079"/>
              </a:lnSpc>
            </a:pPr>
            <a:r>
              <a:rPr lang="en-US" sz="2200">
                <a:solidFill>
                  <a:srgbClr val="FFFFFF"/>
                </a:solidFill>
                <a:latin typeface="Be Vietnam"/>
                <a:ea typeface="Be Vietnam"/>
                <a:cs typeface="Be Vietnam"/>
                <a:sym typeface="Be Vietnam"/>
              </a:rPr>
              <a:t>Menghasilkan prototype Smart Rescue Wristband berbasis IoT pada sistem gelang pelampung untuk mendukung keselamatan pengguna di lingkungan perairan.</a:t>
            </a:r>
          </a:p>
          <a:p>
            <a:pPr algn="just">
              <a:lnSpc>
                <a:spcPts val="3079"/>
              </a:lnSpc>
            </a:pPr>
            <a:endParaRPr lang="en-US" sz="2200">
              <a:solidFill>
                <a:srgbClr val="FFFFFF"/>
              </a:solidFill>
              <a:latin typeface="Be Vietnam"/>
              <a:ea typeface="Be Vietnam"/>
              <a:cs typeface="Be Vietnam"/>
              <a:sym typeface="Be Vietnam"/>
            </a:endParaRPr>
          </a:p>
        </p:txBody>
      </p:sp>
      <p:grpSp>
        <p:nvGrpSpPr>
          <p:cNvPr id="10" name="Group 10"/>
          <p:cNvGrpSpPr/>
          <p:nvPr/>
        </p:nvGrpSpPr>
        <p:grpSpPr>
          <a:xfrm rot="-6300">
            <a:off x="7454844" y="3428417"/>
            <a:ext cx="8410125" cy="15444"/>
            <a:chOff x="0" y="0"/>
            <a:chExt cx="6915836" cy="12700"/>
          </a:xfrm>
        </p:grpSpPr>
        <p:sp>
          <p:nvSpPr>
            <p:cNvPr id="11" name="Freeform 11"/>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FFFFFF"/>
            </a:solidFill>
          </p:spPr>
        </p:sp>
      </p:grpSp>
      <p:sp>
        <p:nvSpPr>
          <p:cNvPr id="12" name="TextBox 12"/>
          <p:cNvSpPr txBox="1"/>
          <p:nvPr/>
        </p:nvSpPr>
        <p:spPr>
          <a:xfrm>
            <a:off x="7454858" y="3599180"/>
            <a:ext cx="8599151" cy="1544320"/>
          </a:xfrm>
          <a:prstGeom prst="rect">
            <a:avLst/>
          </a:prstGeom>
        </p:spPr>
        <p:txBody>
          <a:bodyPr lIns="0" tIns="0" rIns="0" bIns="0" rtlCol="0" anchor="t">
            <a:spAutoFit/>
          </a:bodyPr>
          <a:lstStyle/>
          <a:p>
            <a:pPr algn="just">
              <a:lnSpc>
                <a:spcPts val="3079"/>
              </a:lnSpc>
            </a:pPr>
            <a:r>
              <a:rPr lang="en-US" sz="2200">
                <a:solidFill>
                  <a:srgbClr val="FFFFFF"/>
                </a:solidFill>
                <a:latin typeface="Be Vietnam"/>
                <a:ea typeface="Be Vietnam"/>
                <a:cs typeface="Be Vietnam"/>
                <a:sym typeface="Be Vietnam"/>
              </a:rPr>
              <a:t>Mengintegrasikan sensor detak jantung, modul GPS, dan komunikasi LoRa dalam satu sistem yang mampu mentransmisikan data secara real-time.</a:t>
            </a:r>
          </a:p>
          <a:p>
            <a:pPr algn="just">
              <a:lnSpc>
                <a:spcPts val="3079"/>
              </a:lnSpc>
            </a:pPr>
            <a:endParaRPr lang="en-US" sz="2200">
              <a:solidFill>
                <a:srgbClr val="FFFFFF"/>
              </a:solidFill>
              <a:latin typeface="Be Vietnam"/>
              <a:ea typeface="Be Vietnam"/>
              <a:cs typeface="Be Vietnam"/>
              <a:sym typeface="Be Vietnam"/>
            </a:endParaRPr>
          </a:p>
        </p:txBody>
      </p:sp>
      <p:grpSp>
        <p:nvGrpSpPr>
          <p:cNvPr id="13" name="Group 13"/>
          <p:cNvGrpSpPr/>
          <p:nvPr/>
        </p:nvGrpSpPr>
        <p:grpSpPr>
          <a:xfrm rot="-6300">
            <a:off x="7454854" y="4934637"/>
            <a:ext cx="8410125" cy="15444"/>
            <a:chOff x="0" y="0"/>
            <a:chExt cx="6915836" cy="12700"/>
          </a:xfrm>
        </p:grpSpPr>
        <p:sp>
          <p:nvSpPr>
            <p:cNvPr id="14" name="Freeform 14"/>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FFFFFF"/>
            </a:solidFill>
          </p:spPr>
        </p:sp>
      </p:grpSp>
      <p:sp>
        <p:nvSpPr>
          <p:cNvPr id="15" name="TextBox 15"/>
          <p:cNvSpPr txBox="1"/>
          <p:nvPr/>
        </p:nvSpPr>
        <p:spPr>
          <a:xfrm>
            <a:off x="7454847" y="5105400"/>
            <a:ext cx="8599151" cy="1544320"/>
          </a:xfrm>
          <a:prstGeom prst="rect">
            <a:avLst/>
          </a:prstGeom>
        </p:spPr>
        <p:txBody>
          <a:bodyPr lIns="0" tIns="0" rIns="0" bIns="0" rtlCol="0" anchor="t">
            <a:spAutoFit/>
          </a:bodyPr>
          <a:lstStyle/>
          <a:p>
            <a:pPr algn="just">
              <a:lnSpc>
                <a:spcPts val="3079"/>
              </a:lnSpc>
            </a:pPr>
            <a:r>
              <a:rPr lang="en-US" sz="2200">
                <a:solidFill>
                  <a:srgbClr val="FFFFFF"/>
                </a:solidFill>
                <a:latin typeface="Be Vietnam"/>
                <a:ea typeface="Be Vietnam"/>
                <a:cs typeface="Be Vietnam"/>
                <a:sym typeface="Be Vietnam"/>
              </a:rPr>
              <a:t>Mengembangkan sistem monitoring berbasis web untuk menampilkan informasi detak jantung dan lokasi pengguna secara akurat dan responsif.</a:t>
            </a:r>
          </a:p>
          <a:p>
            <a:pPr algn="just">
              <a:lnSpc>
                <a:spcPts val="3079"/>
              </a:lnSpc>
            </a:pPr>
            <a:endParaRPr lang="en-US" sz="2200">
              <a:solidFill>
                <a:srgbClr val="FFFFFF"/>
              </a:solidFill>
              <a:latin typeface="Be Vietnam"/>
              <a:ea typeface="Be Vietnam"/>
              <a:cs typeface="Be Vietnam"/>
              <a:sym typeface="Be Vietnam"/>
            </a:endParaRPr>
          </a:p>
        </p:txBody>
      </p:sp>
      <p:grpSp>
        <p:nvGrpSpPr>
          <p:cNvPr id="16" name="Group 16"/>
          <p:cNvGrpSpPr/>
          <p:nvPr/>
        </p:nvGrpSpPr>
        <p:grpSpPr>
          <a:xfrm rot="-6300">
            <a:off x="7454844" y="6440857"/>
            <a:ext cx="8410125" cy="15444"/>
            <a:chOff x="0" y="0"/>
            <a:chExt cx="6915836" cy="12700"/>
          </a:xfrm>
        </p:grpSpPr>
        <p:sp>
          <p:nvSpPr>
            <p:cNvPr id="17" name="Freeform 17"/>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FFFFFF"/>
            </a:solidFill>
          </p:spPr>
        </p:sp>
      </p:grpSp>
      <p:sp>
        <p:nvSpPr>
          <p:cNvPr id="18" name="TextBox 18"/>
          <p:cNvSpPr txBox="1"/>
          <p:nvPr/>
        </p:nvSpPr>
        <p:spPr>
          <a:xfrm>
            <a:off x="7454869" y="6611620"/>
            <a:ext cx="8599151" cy="1544320"/>
          </a:xfrm>
          <a:prstGeom prst="rect">
            <a:avLst/>
          </a:prstGeom>
        </p:spPr>
        <p:txBody>
          <a:bodyPr lIns="0" tIns="0" rIns="0" bIns="0" rtlCol="0" anchor="t">
            <a:spAutoFit/>
          </a:bodyPr>
          <a:lstStyle/>
          <a:p>
            <a:pPr algn="just">
              <a:lnSpc>
                <a:spcPts val="3079"/>
              </a:lnSpc>
            </a:pPr>
            <a:r>
              <a:rPr lang="en-US" sz="2200">
                <a:solidFill>
                  <a:srgbClr val="FFFFFF"/>
                </a:solidFill>
                <a:latin typeface="Be Vietnam"/>
                <a:ea typeface="Be Vietnam"/>
                <a:cs typeface="Be Vietnam"/>
                <a:sym typeface="Be Vietnam"/>
              </a:rPr>
              <a:t>Melakukan pengujian dan evaluasi kinerja sistem berdasarkan akurasi sensor, performa komunikasi LoRa, serta efisiensi konsumsi daya perangkat.</a:t>
            </a:r>
          </a:p>
          <a:p>
            <a:pPr algn="just">
              <a:lnSpc>
                <a:spcPts val="3079"/>
              </a:lnSpc>
            </a:pPr>
            <a:endParaRPr lang="en-US" sz="2200">
              <a:solidFill>
                <a:srgbClr val="FFFFFF"/>
              </a:solidFill>
              <a:latin typeface="Be Vietnam"/>
              <a:ea typeface="Be Vietnam"/>
              <a:cs typeface="Be Vietnam"/>
              <a:sym typeface="Be Vietnam"/>
            </a:endParaRPr>
          </a:p>
        </p:txBody>
      </p:sp>
      <p:grpSp>
        <p:nvGrpSpPr>
          <p:cNvPr id="19" name="Group 19"/>
          <p:cNvGrpSpPr/>
          <p:nvPr/>
        </p:nvGrpSpPr>
        <p:grpSpPr>
          <a:xfrm rot="-6300">
            <a:off x="7454865" y="7947077"/>
            <a:ext cx="8410125" cy="15444"/>
            <a:chOff x="0" y="0"/>
            <a:chExt cx="6915836" cy="12700"/>
          </a:xfrm>
        </p:grpSpPr>
        <p:sp>
          <p:nvSpPr>
            <p:cNvPr id="20" name="Freeform 20"/>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FFFFFF"/>
            </a:solid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Seminar Proposal</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07</a:t>
            </a:r>
          </a:p>
        </p:txBody>
      </p:sp>
      <p:sp>
        <p:nvSpPr>
          <p:cNvPr id="8" name="TextBox 8"/>
          <p:cNvSpPr txBox="1"/>
          <p:nvPr/>
        </p:nvSpPr>
        <p:spPr>
          <a:xfrm>
            <a:off x="1028700" y="3086100"/>
            <a:ext cx="7114184" cy="3771900"/>
          </a:xfrm>
          <a:prstGeom prst="rect">
            <a:avLst/>
          </a:prstGeom>
        </p:spPr>
        <p:txBody>
          <a:bodyPr lIns="0" tIns="0" rIns="0" bIns="0" rtlCol="0" anchor="t">
            <a:spAutoFit/>
          </a:bodyPr>
          <a:lstStyle/>
          <a:p>
            <a:pPr algn="l">
              <a:lnSpc>
                <a:spcPts val="14400"/>
              </a:lnSpc>
            </a:pPr>
            <a:r>
              <a:rPr lang="en-US" sz="12000">
                <a:solidFill>
                  <a:srgbClr val="2D3E70"/>
                </a:solidFill>
                <a:latin typeface="Boston Angel"/>
                <a:ea typeface="Boston Angel"/>
                <a:cs typeface="Boston Angel"/>
                <a:sym typeface="Boston Angel"/>
              </a:rPr>
              <a:t>Manfaat</a:t>
            </a:r>
          </a:p>
          <a:p>
            <a:pPr algn="l">
              <a:lnSpc>
                <a:spcPts val="14400"/>
              </a:lnSpc>
            </a:pPr>
            <a:r>
              <a:rPr lang="en-US" sz="12000">
                <a:solidFill>
                  <a:srgbClr val="2D3E70"/>
                </a:solidFill>
                <a:latin typeface="Boston Angel"/>
                <a:ea typeface="Boston Angel"/>
                <a:cs typeface="Boston Angel"/>
                <a:sym typeface="Boston Angel"/>
              </a:rPr>
              <a:t>Penelitian</a:t>
            </a:r>
          </a:p>
        </p:txBody>
      </p:sp>
      <p:sp>
        <p:nvSpPr>
          <p:cNvPr id="9" name="TextBox 9"/>
          <p:cNvSpPr txBox="1"/>
          <p:nvPr/>
        </p:nvSpPr>
        <p:spPr>
          <a:xfrm>
            <a:off x="8660149" y="2116253"/>
            <a:ext cx="8599151" cy="2715895"/>
          </a:xfrm>
          <a:prstGeom prst="rect">
            <a:avLst/>
          </a:prstGeom>
        </p:spPr>
        <p:txBody>
          <a:bodyPr lIns="0" tIns="0" rIns="0" bIns="0" rtlCol="0" anchor="t">
            <a:spAutoFit/>
          </a:bodyPr>
          <a:lstStyle/>
          <a:p>
            <a:pPr algn="just">
              <a:lnSpc>
                <a:spcPts val="3079"/>
              </a:lnSpc>
            </a:pPr>
            <a:r>
              <a:rPr lang="en-US" sz="2199">
                <a:solidFill>
                  <a:srgbClr val="202020"/>
                </a:solidFill>
                <a:latin typeface="Be Vietnam"/>
                <a:ea typeface="Be Vietnam"/>
                <a:cs typeface="Be Vietnam"/>
                <a:sym typeface="Be Vietnam"/>
              </a:rPr>
              <a:t>Manfaat penelitian ini bagi peneliti adalah menambah wawasan dan pengalaman dalam perancangan serta implementasi sistem berbasis Internet of Things (IoT), khususnya dalam integrasi sensor detak jantung, GPS, dan komunikasi LoRa pada perangkat wearable untuk aplikasi keselamatan.</a:t>
            </a:r>
          </a:p>
          <a:p>
            <a:pPr algn="just">
              <a:lnSpc>
                <a:spcPts val="3079"/>
              </a:lnSpc>
            </a:pPr>
            <a:endParaRPr lang="en-US" sz="2199">
              <a:solidFill>
                <a:srgbClr val="202020"/>
              </a:solidFill>
              <a:latin typeface="Be Vietnam"/>
              <a:ea typeface="Be Vietnam"/>
              <a:cs typeface="Be Vietnam"/>
              <a:sym typeface="Be Vietnam"/>
            </a:endParaRPr>
          </a:p>
        </p:txBody>
      </p:sp>
      <p:grpSp>
        <p:nvGrpSpPr>
          <p:cNvPr id="10" name="Group 10"/>
          <p:cNvGrpSpPr/>
          <p:nvPr/>
        </p:nvGrpSpPr>
        <p:grpSpPr>
          <a:xfrm rot="-6300">
            <a:off x="8655387" y="2003277"/>
            <a:ext cx="5186877" cy="9525"/>
            <a:chOff x="0" y="0"/>
            <a:chExt cx="6915836" cy="12700"/>
          </a:xfrm>
        </p:grpSpPr>
        <p:sp>
          <p:nvSpPr>
            <p:cNvPr id="11" name="Freeform 11"/>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02020"/>
            </a:solidFill>
          </p:spPr>
        </p:sp>
      </p:grpSp>
      <p:sp>
        <p:nvSpPr>
          <p:cNvPr id="12" name="TextBox 12"/>
          <p:cNvSpPr txBox="1"/>
          <p:nvPr/>
        </p:nvSpPr>
        <p:spPr>
          <a:xfrm>
            <a:off x="9304191" y="1314506"/>
            <a:ext cx="4533309" cy="431800"/>
          </a:xfrm>
          <a:prstGeom prst="rect">
            <a:avLst/>
          </a:prstGeom>
        </p:spPr>
        <p:txBody>
          <a:bodyPr lIns="0" tIns="0" rIns="0" bIns="0" rtlCol="0" anchor="t">
            <a:spAutoFit/>
          </a:bodyPr>
          <a:lstStyle/>
          <a:p>
            <a:pPr algn="l">
              <a:lnSpc>
                <a:spcPts val="3500"/>
              </a:lnSpc>
            </a:pPr>
            <a:r>
              <a:rPr lang="en-US" sz="2499" b="1">
                <a:solidFill>
                  <a:srgbClr val="202020"/>
                </a:solidFill>
                <a:latin typeface="Be Vietnam Ultra-Bold"/>
                <a:ea typeface="Be Vietnam Ultra-Bold"/>
                <a:cs typeface="Be Vietnam Ultra-Bold"/>
                <a:sym typeface="Be Vietnam Ultra-Bold"/>
              </a:rPr>
              <a:t>MANFAAT PERTAMA</a:t>
            </a:r>
          </a:p>
        </p:txBody>
      </p:sp>
      <p:sp>
        <p:nvSpPr>
          <p:cNvPr id="13" name="TextBox 13"/>
          <p:cNvSpPr txBox="1"/>
          <p:nvPr/>
        </p:nvSpPr>
        <p:spPr>
          <a:xfrm>
            <a:off x="8660140" y="1314506"/>
            <a:ext cx="644052" cy="488947"/>
          </a:xfrm>
          <a:prstGeom prst="rect">
            <a:avLst/>
          </a:prstGeom>
        </p:spPr>
        <p:txBody>
          <a:bodyPr lIns="0" tIns="0" rIns="0" bIns="0" rtlCol="0" anchor="t">
            <a:spAutoFit/>
          </a:bodyPr>
          <a:lstStyle/>
          <a:p>
            <a:pPr algn="ctr">
              <a:lnSpc>
                <a:spcPts val="3500"/>
              </a:lnSpc>
            </a:pPr>
            <a:r>
              <a:rPr lang="en-US" sz="2499" b="1">
                <a:solidFill>
                  <a:srgbClr val="2D3E70"/>
                </a:solidFill>
                <a:latin typeface="Be Vietnam Ultra-Bold"/>
                <a:ea typeface="Be Vietnam Ultra-Bold"/>
                <a:cs typeface="Be Vietnam Ultra-Bold"/>
                <a:sym typeface="Be Vietnam Ultra-Bold"/>
              </a:rPr>
              <a:t>01</a:t>
            </a:r>
          </a:p>
        </p:txBody>
      </p:sp>
      <p:sp>
        <p:nvSpPr>
          <p:cNvPr id="14" name="TextBox 14"/>
          <p:cNvSpPr txBox="1"/>
          <p:nvPr/>
        </p:nvSpPr>
        <p:spPr>
          <a:xfrm>
            <a:off x="8660149" y="5481826"/>
            <a:ext cx="8599151" cy="3496945"/>
          </a:xfrm>
          <a:prstGeom prst="rect">
            <a:avLst/>
          </a:prstGeom>
        </p:spPr>
        <p:txBody>
          <a:bodyPr lIns="0" tIns="0" rIns="0" bIns="0" rtlCol="0" anchor="t">
            <a:spAutoFit/>
          </a:bodyPr>
          <a:lstStyle/>
          <a:p>
            <a:pPr algn="just">
              <a:lnSpc>
                <a:spcPts val="3079"/>
              </a:lnSpc>
            </a:pPr>
            <a:r>
              <a:rPr lang="en-US" sz="2199">
                <a:solidFill>
                  <a:srgbClr val="202020"/>
                </a:solidFill>
                <a:latin typeface="Be Vietnam"/>
                <a:ea typeface="Be Vietnam"/>
                <a:cs typeface="Be Vietnam"/>
                <a:sym typeface="Be Vietnam"/>
              </a:rPr>
              <a:t>Manfaat penelitian ini bagi perkembangan teknologi adalah memberikan gambaran mengenai penerapan teknologi IoT pada sistem monitoring kondisi pengguna dan pelacakan lokasi secara langsung. Penelitian ini juga diharapkan dapat menjadi salah satu solusi dalam pengembangan teknologi keselamatan di lingkungan perairan melalui pemanfaatan perangkat wearable yang mampu mendukung proses pemantauan dan pencarian korban pada situasi darurat.</a:t>
            </a:r>
          </a:p>
          <a:p>
            <a:pPr algn="just">
              <a:lnSpc>
                <a:spcPts val="3079"/>
              </a:lnSpc>
            </a:pPr>
            <a:endParaRPr lang="en-US" sz="2199">
              <a:solidFill>
                <a:srgbClr val="202020"/>
              </a:solidFill>
              <a:latin typeface="Be Vietnam"/>
              <a:ea typeface="Be Vietnam"/>
              <a:cs typeface="Be Vietnam"/>
              <a:sym typeface="Be Vietnam"/>
            </a:endParaRPr>
          </a:p>
        </p:txBody>
      </p:sp>
      <p:grpSp>
        <p:nvGrpSpPr>
          <p:cNvPr id="15" name="Group 15"/>
          <p:cNvGrpSpPr/>
          <p:nvPr/>
        </p:nvGrpSpPr>
        <p:grpSpPr>
          <a:xfrm rot="-6300">
            <a:off x="8655387" y="5368841"/>
            <a:ext cx="5186877" cy="9525"/>
            <a:chOff x="0" y="0"/>
            <a:chExt cx="6915836" cy="12700"/>
          </a:xfrm>
        </p:grpSpPr>
        <p:sp>
          <p:nvSpPr>
            <p:cNvPr id="16" name="Freeform 16"/>
            <p:cNvSpPr/>
            <p:nvPr/>
          </p:nvSpPr>
          <p:spPr>
            <a:xfrm>
              <a:off x="6350" y="0"/>
              <a:ext cx="6903085" cy="12700"/>
            </a:xfrm>
            <a:custGeom>
              <a:avLst/>
              <a:gdLst/>
              <a:ahLst/>
              <a:cxnLst/>
              <a:rect l="l" t="t" r="r" b="b"/>
              <a:pathLst>
                <a:path w="6903085" h="12700">
                  <a:moveTo>
                    <a:pt x="0" y="0"/>
                  </a:moveTo>
                  <a:lnTo>
                    <a:pt x="6903085" y="0"/>
                  </a:lnTo>
                  <a:lnTo>
                    <a:pt x="6903085" y="12700"/>
                  </a:lnTo>
                  <a:lnTo>
                    <a:pt x="0" y="12700"/>
                  </a:lnTo>
                  <a:close/>
                </a:path>
              </a:pathLst>
            </a:custGeom>
            <a:solidFill>
              <a:srgbClr val="202020"/>
            </a:solidFill>
          </p:spPr>
        </p:sp>
      </p:grpSp>
      <p:sp>
        <p:nvSpPr>
          <p:cNvPr id="17" name="TextBox 17"/>
          <p:cNvSpPr txBox="1"/>
          <p:nvPr/>
        </p:nvSpPr>
        <p:spPr>
          <a:xfrm>
            <a:off x="9304191" y="4680079"/>
            <a:ext cx="4533309" cy="431800"/>
          </a:xfrm>
          <a:prstGeom prst="rect">
            <a:avLst/>
          </a:prstGeom>
        </p:spPr>
        <p:txBody>
          <a:bodyPr lIns="0" tIns="0" rIns="0" bIns="0" rtlCol="0" anchor="t">
            <a:spAutoFit/>
          </a:bodyPr>
          <a:lstStyle/>
          <a:p>
            <a:pPr algn="l">
              <a:lnSpc>
                <a:spcPts val="3500"/>
              </a:lnSpc>
            </a:pPr>
            <a:r>
              <a:rPr lang="en-US" sz="2499" b="1">
                <a:solidFill>
                  <a:srgbClr val="202020"/>
                </a:solidFill>
                <a:latin typeface="Be Vietnam Ultra-Bold"/>
                <a:ea typeface="Be Vietnam Ultra-Bold"/>
                <a:cs typeface="Be Vietnam Ultra-Bold"/>
                <a:sym typeface="Be Vietnam Ultra-Bold"/>
              </a:rPr>
              <a:t>MANFAAT KEDUA</a:t>
            </a:r>
          </a:p>
        </p:txBody>
      </p:sp>
      <p:sp>
        <p:nvSpPr>
          <p:cNvPr id="18" name="TextBox 18"/>
          <p:cNvSpPr txBox="1"/>
          <p:nvPr/>
        </p:nvSpPr>
        <p:spPr>
          <a:xfrm>
            <a:off x="8660140" y="4680079"/>
            <a:ext cx="644052" cy="488947"/>
          </a:xfrm>
          <a:prstGeom prst="rect">
            <a:avLst/>
          </a:prstGeom>
        </p:spPr>
        <p:txBody>
          <a:bodyPr lIns="0" tIns="0" rIns="0" bIns="0" rtlCol="0" anchor="t">
            <a:spAutoFit/>
          </a:bodyPr>
          <a:lstStyle/>
          <a:p>
            <a:pPr algn="ctr">
              <a:lnSpc>
                <a:spcPts val="3500"/>
              </a:lnSpc>
            </a:pPr>
            <a:r>
              <a:rPr lang="en-US" sz="2499" b="1">
                <a:solidFill>
                  <a:srgbClr val="2D3E70"/>
                </a:solidFill>
                <a:latin typeface="Be Vietnam Ultra-Bold"/>
                <a:ea typeface="Be Vietnam Ultra-Bold"/>
                <a:cs typeface="Be Vietnam Ultra-Bold"/>
                <a:sym typeface="Be Vietnam Ultra-Bold"/>
              </a:rPr>
              <a:t>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08</a:t>
            </a:r>
          </a:p>
        </p:txBody>
      </p:sp>
      <p:pic>
        <p:nvPicPr>
          <p:cNvPr id="10" name="Picture 9" descr="A white table with black text&#10;&#10;AI-generated content may be incorrect.">
            <a:extLst>
              <a:ext uri="{FF2B5EF4-FFF2-40B4-BE49-F238E27FC236}">
                <a16:creationId xmlns:a16="http://schemas.microsoft.com/office/drawing/2014/main" id="{64A066AE-B5BE-7D13-92F7-DD1E5E180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329" y="1372172"/>
            <a:ext cx="16226971" cy="7632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9</a:t>
            </a:r>
          </a:p>
        </p:txBody>
      </p:sp>
      <p:pic>
        <p:nvPicPr>
          <p:cNvPr id="10" name="Picture 9" descr="A white sheet with black text&#10;&#10;AI-generated content may be incorrect.">
            <a:extLst>
              <a:ext uri="{FF2B5EF4-FFF2-40B4-BE49-F238E27FC236}">
                <a16:creationId xmlns:a16="http://schemas.microsoft.com/office/drawing/2014/main" id="{9EF197CE-3DBA-416B-36FA-A3C8A6628B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5956" y="1501708"/>
            <a:ext cx="16223343" cy="56633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1161254" y="1047806"/>
            <a:ext cx="6098046" cy="8210494"/>
          </a:xfrm>
          <a:custGeom>
            <a:avLst/>
            <a:gdLst/>
            <a:ahLst/>
            <a:cxnLst/>
            <a:rect l="l" t="t" r="r" b="b"/>
            <a:pathLst>
              <a:path w="6098046" h="8210494">
                <a:moveTo>
                  <a:pt x="0" y="0"/>
                </a:moveTo>
                <a:lnTo>
                  <a:pt x="6098046" y="0"/>
                </a:lnTo>
                <a:lnTo>
                  <a:pt x="6098046" y="8210494"/>
                </a:lnTo>
                <a:lnTo>
                  <a:pt x="0" y="8210494"/>
                </a:lnTo>
                <a:lnTo>
                  <a:pt x="0" y="0"/>
                </a:lnTo>
                <a:close/>
              </a:path>
            </a:pathLst>
          </a:custGeom>
          <a:blipFill>
            <a:blip r:embed="rId4"/>
            <a:stretch>
              <a:fillRect/>
            </a:stretch>
          </a:blipFill>
        </p:spPr>
      </p:sp>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8" name="TextBox 8"/>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10</a:t>
            </a:r>
          </a:p>
        </p:txBody>
      </p:sp>
      <p:sp>
        <p:nvSpPr>
          <p:cNvPr id="9" name="TextBox 9"/>
          <p:cNvSpPr txBox="1"/>
          <p:nvPr/>
        </p:nvSpPr>
        <p:spPr>
          <a:xfrm>
            <a:off x="430138" y="3265572"/>
            <a:ext cx="9566501" cy="1628775"/>
          </a:xfrm>
          <a:prstGeom prst="rect">
            <a:avLst/>
          </a:prstGeom>
        </p:spPr>
        <p:txBody>
          <a:bodyPr lIns="0" tIns="0" rIns="0" bIns="0" rtlCol="0" anchor="t">
            <a:spAutoFit/>
          </a:bodyPr>
          <a:lstStyle/>
          <a:p>
            <a:pPr algn="ctr">
              <a:lnSpc>
                <a:spcPts val="12000"/>
              </a:lnSpc>
            </a:pPr>
            <a:r>
              <a:rPr lang="en-US" sz="10000">
                <a:solidFill>
                  <a:srgbClr val="2D3E70"/>
                </a:solidFill>
                <a:latin typeface="Boston Angel"/>
                <a:ea typeface="Boston Angel"/>
                <a:cs typeface="Boston Angel"/>
                <a:sym typeface="Boston Angel"/>
              </a:rPr>
              <a:t>State of The Art</a:t>
            </a:r>
          </a:p>
        </p:txBody>
      </p:sp>
      <p:sp>
        <p:nvSpPr>
          <p:cNvPr id="10" name="TextBox 10"/>
          <p:cNvSpPr txBox="1"/>
          <p:nvPr/>
        </p:nvSpPr>
        <p:spPr>
          <a:xfrm>
            <a:off x="1397488" y="4856247"/>
            <a:ext cx="8599151" cy="1934845"/>
          </a:xfrm>
          <a:prstGeom prst="rect">
            <a:avLst/>
          </a:prstGeom>
        </p:spPr>
        <p:txBody>
          <a:bodyPr lIns="0" tIns="0" rIns="0" bIns="0" rtlCol="0" anchor="t">
            <a:spAutoFit/>
          </a:bodyPr>
          <a:lstStyle/>
          <a:p>
            <a:pPr algn="just">
              <a:lnSpc>
                <a:spcPts val="3079"/>
              </a:lnSpc>
            </a:pPr>
            <a:r>
              <a:rPr lang="en-US" sz="2199">
                <a:solidFill>
                  <a:srgbClr val="202020"/>
                </a:solidFill>
                <a:latin typeface="Be Vietnam"/>
                <a:ea typeface="Be Vietnam"/>
                <a:cs typeface="Be Vietnam"/>
                <a:sym typeface="Be Vietnam"/>
              </a:rPr>
              <a:t>Penelitian ini mengintegrasikan teknologi IoT, sensor detak jantung, GPS, dan LoRa sebagai dasar pengembangan Smart Rescue Wristband untuk monitoring kondisi dan lokasi pengguna secara real-time guna mendukung keselamatan di lingkungan perairan.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1701385" y="1047806"/>
            <a:ext cx="2740736" cy="8210494"/>
          </a:xfrm>
          <a:custGeom>
            <a:avLst/>
            <a:gdLst/>
            <a:ahLst/>
            <a:cxnLst/>
            <a:rect l="l" t="t" r="r" b="b"/>
            <a:pathLst>
              <a:path w="2740736" h="8210494">
                <a:moveTo>
                  <a:pt x="0" y="0"/>
                </a:moveTo>
                <a:lnTo>
                  <a:pt x="2740736" y="0"/>
                </a:lnTo>
                <a:lnTo>
                  <a:pt x="2740736" y="8210494"/>
                </a:lnTo>
                <a:lnTo>
                  <a:pt x="0" y="8210494"/>
                </a:lnTo>
                <a:lnTo>
                  <a:pt x="0" y="0"/>
                </a:lnTo>
                <a:close/>
              </a:path>
            </a:pathLst>
          </a:custGeom>
          <a:blipFill>
            <a:blip r:embed="rId4"/>
            <a:stretch>
              <a:fillRect/>
            </a:stretch>
          </a:blipFill>
        </p:spPr>
      </p:sp>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448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11</a:t>
            </a:r>
          </a:p>
        </p:txBody>
      </p:sp>
      <p:sp>
        <p:nvSpPr>
          <p:cNvPr id="9" name="TextBox 9"/>
          <p:cNvSpPr txBox="1"/>
          <p:nvPr/>
        </p:nvSpPr>
        <p:spPr>
          <a:xfrm>
            <a:off x="1028700" y="2434675"/>
            <a:ext cx="8616506"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Diagram Alur Penelitian</a:t>
            </a:r>
          </a:p>
        </p:txBody>
      </p:sp>
      <p:sp>
        <p:nvSpPr>
          <p:cNvPr id="10" name="TextBox 10"/>
          <p:cNvSpPr txBox="1"/>
          <p:nvPr/>
        </p:nvSpPr>
        <p:spPr>
          <a:xfrm>
            <a:off x="1028700" y="5539825"/>
            <a:ext cx="7854506" cy="2082165"/>
          </a:xfrm>
          <a:prstGeom prst="rect">
            <a:avLst/>
          </a:prstGeom>
        </p:spPr>
        <p:txBody>
          <a:bodyPr lIns="0" tIns="0" rIns="0" bIns="0" rtlCol="0" anchor="t">
            <a:spAutoFit/>
          </a:bodyPr>
          <a:lstStyle/>
          <a:p>
            <a:pPr algn="just">
              <a:lnSpc>
                <a:spcPts val="3359"/>
              </a:lnSpc>
            </a:pPr>
            <a:r>
              <a:rPr lang="en-US" sz="2400">
                <a:solidFill>
                  <a:srgbClr val="FFFFFF"/>
                </a:solidFill>
                <a:latin typeface="Be Vietnam"/>
                <a:ea typeface="Be Vietnam"/>
                <a:cs typeface="Be Vietnam"/>
                <a:sym typeface="Be Vietnam"/>
              </a:rPr>
              <a:t>Diagram alir penelitian menggambarkan tahapan perancangan dan pengembangan Smart Rescue Wristband secara sistematis, mulai dari perencanaan hingga pengujian dan evaluasi sistem agar alur kerja dapat dipahami dengan jelas.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148755" y="1693470"/>
            <a:ext cx="9745712" cy="7261113"/>
          </a:xfrm>
          <a:custGeom>
            <a:avLst/>
            <a:gdLst/>
            <a:ahLst/>
            <a:cxnLst/>
            <a:rect l="l" t="t" r="r" b="b"/>
            <a:pathLst>
              <a:path w="9745712" h="7261113">
                <a:moveTo>
                  <a:pt x="0" y="0"/>
                </a:moveTo>
                <a:lnTo>
                  <a:pt x="9745712" y="0"/>
                </a:lnTo>
                <a:lnTo>
                  <a:pt x="9745712" y="7261113"/>
                </a:lnTo>
                <a:lnTo>
                  <a:pt x="0" y="7261113"/>
                </a:lnTo>
                <a:lnTo>
                  <a:pt x="0" y="0"/>
                </a:lnTo>
                <a:close/>
              </a:path>
            </a:pathLst>
          </a:custGeom>
          <a:blipFill>
            <a:blip r:embed="rId4"/>
            <a:stretch>
              <a:fillRect/>
            </a:stretch>
          </a:blipFill>
        </p:spPr>
      </p:sp>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7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12</a:t>
            </a:r>
          </a:p>
        </p:txBody>
      </p:sp>
      <p:sp>
        <p:nvSpPr>
          <p:cNvPr id="9" name="TextBox 9"/>
          <p:cNvSpPr txBox="1"/>
          <p:nvPr/>
        </p:nvSpPr>
        <p:spPr>
          <a:xfrm>
            <a:off x="1028700" y="2434675"/>
            <a:ext cx="8616506" cy="3152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Metode Penelitian</a:t>
            </a:r>
          </a:p>
        </p:txBody>
      </p:sp>
      <p:sp>
        <p:nvSpPr>
          <p:cNvPr id="10" name="TextBox 10"/>
          <p:cNvSpPr txBox="1"/>
          <p:nvPr/>
        </p:nvSpPr>
        <p:spPr>
          <a:xfrm>
            <a:off x="1028700" y="5539825"/>
            <a:ext cx="7854506" cy="2501265"/>
          </a:xfrm>
          <a:prstGeom prst="rect">
            <a:avLst/>
          </a:prstGeom>
        </p:spPr>
        <p:txBody>
          <a:bodyPr lIns="0" tIns="0" rIns="0" bIns="0" rtlCol="0" anchor="t">
            <a:spAutoFit/>
          </a:bodyPr>
          <a:lstStyle/>
          <a:p>
            <a:pPr algn="just">
              <a:lnSpc>
                <a:spcPts val="3359"/>
              </a:lnSpc>
            </a:pPr>
            <a:r>
              <a:rPr lang="en-US" sz="2400">
                <a:solidFill>
                  <a:srgbClr val="FFFFFF"/>
                </a:solidFill>
                <a:latin typeface="Be Vietnam"/>
                <a:ea typeface="Be Vietnam"/>
                <a:cs typeface="Be Vietnam"/>
                <a:sym typeface="Be Vietnam"/>
              </a:rPr>
              <a:t>Metode yang digunakan dalam penelitian ini adalah metode Waterfall. Metode Waterfall merupakan salah satu model pengembangan sistem yang dilakukan secara berurutan dan sistematis, di mana setiap tahapan harus diselesaikan terlebih dahulu sebelum melanjutkan ke tahap berikutnya.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5" name="Object 5"/>
          <p:cNvGraphicFramePr/>
          <p:nvPr>
            <p:extLst>
              <p:ext uri="{D42A27DB-BD31-4B8C-83A1-F6EECF244321}">
                <p14:modId xmlns:p14="http://schemas.microsoft.com/office/powerpoint/2010/main" val="1477256596"/>
              </p:ext>
            </p:extLst>
          </p:nvPr>
        </p:nvGraphicFramePr>
        <p:xfrm>
          <a:off x="-10" y="2687834"/>
          <a:ext cx="18288000" cy="6551363"/>
        </p:xfrm>
        <a:graphic>
          <a:graphicData uri="http://schemas.openxmlformats.org/presentationml/2006/ole">
            <mc:AlternateContent xmlns:mc="http://schemas.openxmlformats.org/markup-compatibility/2006">
              <mc:Choice xmlns:v="urn:schemas-microsoft-com:vml" Requires="v">
                <p:oleObj name="Worksheet" r:id="rId4" imgW="19469100" imgH="9448800" progId="Excel.Sheet.12">
                  <p:embed/>
                </p:oleObj>
              </mc:Choice>
              <mc:Fallback>
                <p:oleObj name="Worksheet" r:id="rId4" imgW="19469100" imgH="9448800" progId="Excel.Sheet.12">
                  <p:embed/>
                  <p:pic>
                    <p:nvPicPr>
                      <p:cNvPr id="0" name=""/>
                      <p:cNvPicPr/>
                      <p:nvPr/>
                    </p:nvPicPr>
                    <p:blipFill>
                      <a:blip r:embed="rId5"/>
                      <a:stretch>
                        <a:fillRect/>
                      </a:stretch>
                    </p:blipFill>
                    <p:spPr>
                      <a:xfrm>
                        <a:off x="-10" y="2687834"/>
                        <a:ext cx="18288000" cy="6551363"/>
                      </a:xfrm>
                      <a:prstGeom prst="rect">
                        <a:avLst/>
                      </a:prstGeom>
                    </p:spPr>
                  </p:pic>
                </p:oleObj>
              </mc:Fallback>
            </mc:AlternateContent>
          </a:graphicData>
        </a:graphic>
      </p:graphicFrame>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AF4EB"/>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AF4EB"/>
                </a:solidFill>
                <a:latin typeface="Be Vietnam"/>
                <a:ea typeface="Be Vietnam"/>
                <a:cs typeface="Be Vietnam"/>
                <a:sym typeface="Be Vietnam"/>
              </a:rPr>
              <a:t>2026</a:t>
            </a:r>
          </a:p>
        </p:txBody>
      </p:sp>
      <p:sp>
        <p:nvSpPr>
          <p:cNvPr id="8" name="TextBox 8"/>
          <p:cNvSpPr txBox="1"/>
          <p:nvPr/>
        </p:nvSpPr>
        <p:spPr>
          <a:xfrm>
            <a:off x="12570066" y="9562148"/>
            <a:ext cx="4689234" cy="3067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13</a:t>
            </a:r>
          </a:p>
        </p:txBody>
      </p:sp>
      <p:sp>
        <p:nvSpPr>
          <p:cNvPr id="9" name="TextBox 9"/>
          <p:cNvSpPr txBox="1"/>
          <p:nvPr/>
        </p:nvSpPr>
        <p:spPr>
          <a:xfrm>
            <a:off x="1028700" y="943031"/>
            <a:ext cx="5095577" cy="1628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Hardware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D3E70"/>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FAF4EB"/>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5" name="Object 5"/>
          <p:cNvGraphicFramePr/>
          <p:nvPr>
            <p:extLst>
              <p:ext uri="{D42A27DB-BD31-4B8C-83A1-F6EECF244321}">
                <p14:modId xmlns:p14="http://schemas.microsoft.com/office/powerpoint/2010/main" val="207522400"/>
              </p:ext>
            </p:extLst>
          </p:nvPr>
        </p:nvGraphicFramePr>
        <p:xfrm>
          <a:off x="0" y="2571806"/>
          <a:ext cx="18288000" cy="6696070"/>
        </p:xfrm>
        <a:graphic>
          <a:graphicData uri="http://schemas.openxmlformats.org/presentationml/2006/ole">
            <mc:AlternateContent xmlns:mc="http://schemas.openxmlformats.org/markup-compatibility/2006">
              <mc:Choice xmlns:v="urn:schemas-microsoft-com:vml" Requires="v">
                <p:oleObj name="Worksheet" r:id="rId4" imgW="19469100" imgH="9448800" progId="Excel.Sheet.12">
                  <p:embed/>
                </p:oleObj>
              </mc:Choice>
              <mc:Fallback>
                <p:oleObj name="Worksheet" r:id="rId4" imgW="19469100" imgH="9448800" progId="Excel.Sheet.12">
                  <p:embed/>
                  <p:pic>
                    <p:nvPicPr>
                      <p:cNvPr id="0" name=""/>
                      <p:cNvPicPr/>
                      <p:nvPr/>
                    </p:nvPicPr>
                    <p:blipFill>
                      <a:blip r:embed="rId5"/>
                      <a:stretch>
                        <a:fillRect/>
                      </a:stretch>
                    </p:blipFill>
                    <p:spPr>
                      <a:xfrm>
                        <a:off x="0" y="2571806"/>
                        <a:ext cx="18288000" cy="6696070"/>
                      </a:xfrm>
                      <a:prstGeom prst="rect">
                        <a:avLst/>
                      </a:prstGeom>
                    </p:spPr>
                  </p:pic>
                </p:oleObj>
              </mc:Fallback>
            </mc:AlternateContent>
          </a:graphicData>
        </a:graphic>
      </p:graphicFrame>
      <p:sp>
        <p:nvSpPr>
          <p:cNvPr id="6" name="TextBox 6"/>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FFFFFF"/>
                </a:solidFill>
                <a:latin typeface="Be Vietnam"/>
                <a:ea typeface="Be Vietnam"/>
                <a:cs typeface="Be Vietnam"/>
                <a:sym typeface="Be Vietnam"/>
              </a:rPr>
              <a:t>Seminar Proposal</a:t>
            </a:r>
          </a:p>
        </p:txBody>
      </p:sp>
      <p:sp>
        <p:nvSpPr>
          <p:cNvPr id="7" name="TextBox 7"/>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2026</a:t>
            </a:r>
          </a:p>
        </p:txBody>
      </p:sp>
      <p:sp>
        <p:nvSpPr>
          <p:cNvPr id="8" name="TextBox 8"/>
          <p:cNvSpPr txBox="1"/>
          <p:nvPr/>
        </p:nvSpPr>
        <p:spPr>
          <a:xfrm>
            <a:off x="12570066" y="9562148"/>
            <a:ext cx="4689234" cy="306705"/>
          </a:xfrm>
          <a:prstGeom prst="rect">
            <a:avLst/>
          </a:prstGeom>
        </p:spPr>
        <p:txBody>
          <a:bodyPr lIns="0" tIns="0" rIns="0" bIns="0" rtlCol="0" anchor="t">
            <a:spAutoFit/>
          </a:bodyPr>
          <a:lstStyle/>
          <a:p>
            <a:pPr algn="r">
              <a:lnSpc>
                <a:spcPts val="2520"/>
              </a:lnSpc>
            </a:pPr>
            <a:r>
              <a:rPr lang="en-US" sz="1800">
                <a:solidFill>
                  <a:srgbClr val="2D3E70"/>
                </a:solidFill>
                <a:latin typeface="Be Vietnam"/>
                <a:ea typeface="Be Vietnam"/>
                <a:cs typeface="Be Vietnam"/>
                <a:sym typeface="Be Vietnam"/>
              </a:rPr>
              <a:t>HALAMAN 14</a:t>
            </a:r>
          </a:p>
        </p:txBody>
      </p:sp>
      <p:sp>
        <p:nvSpPr>
          <p:cNvPr id="9" name="TextBox 9"/>
          <p:cNvSpPr txBox="1"/>
          <p:nvPr/>
        </p:nvSpPr>
        <p:spPr>
          <a:xfrm>
            <a:off x="1028700" y="943031"/>
            <a:ext cx="4503738" cy="1628775"/>
          </a:xfrm>
          <a:prstGeom prst="rect">
            <a:avLst/>
          </a:prstGeom>
        </p:spPr>
        <p:txBody>
          <a:bodyPr lIns="0" tIns="0" rIns="0" bIns="0" rtlCol="0" anchor="t">
            <a:spAutoFit/>
          </a:bodyPr>
          <a:lstStyle/>
          <a:p>
            <a:pPr algn="l">
              <a:lnSpc>
                <a:spcPts val="12000"/>
              </a:lnSpc>
            </a:pPr>
            <a:r>
              <a:rPr lang="en-US" sz="10000">
                <a:solidFill>
                  <a:srgbClr val="FAF4EB"/>
                </a:solidFill>
                <a:latin typeface="Boston Angel"/>
                <a:ea typeface="Boston Angel"/>
                <a:cs typeface="Boston Angel"/>
                <a:sym typeface="Boston Angel"/>
              </a:rPr>
              <a:t>Software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grpSp>
        <p:nvGrpSpPr>
          <p:cNvPr id="2" name="Group 2"/>
          <p:cNvGrpSpPr/>
          <p:nvPr/>
        </p:nvGrpSpPr>
        <p:grpSpPr>
          <a:xfrm rot="-3600">
            <a:off x="-4772" y="1028700"/>
            <a:ext cx="18297535" cy="9525"/>
            <a:chOff x="0" y="0"/>
            <a:chExt cx="24396713" cy="12700"/>
          </a:xfrm>
        </p:grpSpPr>
        <p:sp>
          <p:nvSpPr>
            <p:cNvPr id="3" name="Freeform 3"/>
            <p:cNvSpPr/>
            <p:nvPr/>
          </p:nvSpPr>
          <p:spPr>
            <a:xfrm>
              <a:off x="6350" y="0"/>
              <a:ext cx="24384000" cy="12700"/>
            </a:xfrm>
            <a:custGeom>
              <a:avLst/>
              <a:gdLst/>
              <a:ahLst/>
              <a:cxnLst/>
              <a:rect l="l" t="t" r="r" b="b"/>
              <a:pathLst>
                <a:path w="24384000" h="12700">
                  <a:moveTo>
                    <a:pt x="0" y="0"/>
                  </a:moveTo>
                  <a:lnTo>
                    <a:pt x="24384000" y="0"/>
                  </a:lnTo>
                  <a:lnTo>
                    <a:pt x="24384000" y="12700"/>
                  </a:lnTo>
                  <a:lnTo>
                    <a:pt x="0" y="12700"/>
                  </a:lnTo>
                  <a:close/>
                </a:path>
              </a:pathLst>
            </a:custGeom>
            <a:solidFill>
              <a:srgbClr val="2D3E70"/>
            </a:solidFill>
          </p:spPr>
        </p:sp>
      </p:grpSp>
      <p:sp>
        <p:nvSpPr>
          <p:cNvPr id="4" name="Freeform 4"/>
          <p:cNvSpPr/>
          <p:nvPr/>
        </p:nvSpPr>
        <p:spPr>
          <a:xfrm>
            <a:off x="-10" y="9113634"/>
            <a:ext cx="18288019" cy="1173366"/>
          </a:xfrm>
          <a:custGeom>
            <a:avLst/>
            <a:gdLst/>
            <a:ahLst/>
            <a:cxnLst/>
            <a:rect l="l" t="t" r="r" b="b"/>
            <a:pathLst>
              <a:path w="18288019" h="1173366">
                <a:moveTo>
                  <a:pt x="0" y="0"/>
                </a:moveTo>
                <a:lnTo>
                  <a:pt x="18288020" y="0"/>
                </a:lnTo>
                <a:lnTo>
                  <a:pt x="18288020" y="1173366"/>
                </a:lnTo>
                <a:lnTo>
                  <a:pt x="0" y="11733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028700" y="388048"/>
            <a:ext cx="4689234" cy="306705"/>
          </a:xfrm>
          <a:prstGeom prst="rect">
            <a:avLst/>
          </a:prstGeom>
        </p:spPr>
        <p:txBody>
          <a:bodyPr lIns="0" tIns="0" rIns="0" bIns="0" rtlCol="0" anchor="t">
            <a:spAutoFit/>
          </a:bodyPr>
          <a:lstStyle/>
          <a:p>
            <a:pPr algn="l">
              <a:lnSpc>
                <a:spcPts val="2520"/>
              </a:lnSpc>
            </a:pPr>
            <a:r>
              <a:rPr lang="en-US" sz="1800">
                <a:solidFill>
                  <a:srgbClr val="202020"/>
                </a:solidFill>
                <a:latin typeface="Be Vietnam"/>
                <a:ea typeface="Be Vietnam"/>
                <a:cs typeface="Be Vietnam"/>
                <a:sym typeface="Be Vietnam"/>
              </a:rPr>
              <a:t>Seminar Personal</a:t>
            </a:r>
          </a:p>
        </p:txBody>
      </p:sp>
      <p:sp>
        <p:nvSpPr>
          <p:cNvPr id="6" name="TextBox 6"/>
          <p:cNvSpPr txBox="1"/>
          <p:nvPr/>
        </p:nvSpPr>
        <p:spPr>
          <a:xfrm>
            <a:off x="12570066" y="388048"/>
            <a:ext cx="4689234" cy="306705"/>
          </a:xfrm>
          <a:prstGeom prst="rect">
            <a:avLst/>
          </a:prstGeom>
        </p:spPr>
        <p:txBody>
          <a:bodyPr lIns="0" tIns="0" rIns="0" bIns="0" rtlCol="0" anchor="t">
            <a:spAutoFit/>
          </a:bodyPr>
          <a:lstStyle/>
          <a:p>
            <a:pPr algn="r">
              <a:lnSpc>
                <a:spcPts val="2520"/>
              </a:lnSpc>
            </a:pPr>
            <a:r>
              <a:rPr lang="en-US" sz="1800">
                <a:solidFill>
                  <a:srgbClr val="202020"/>
                </a:solidFill>
                <a:latin typeface="Be Vietnam"/>
                <a:ea typeface="Be Vietnam"/>
                <a:cs typeface="Be Vietnam"/>
                <a:sym typeface="Be Vietnam"/>
              </a:rPr>
              <a:t>2026</a:t>
            </a:r>
          </a:p>
        </p:txBody>
      </p:sp>
      <p:sp>
        <p:nvSpPr>
          <p:cNvPr id="7" name="TextBox 7"/>
          <p:cNvSpPr txBox="1"/>
          <p:nvPr/>
        </p:nvSpPr>
        <p:spPr>
          <a:xfrm>
            <a:off x="12570066" y="9562148"/>
            <a:ext cx="4689234" cy="306705"/>
          </a:xfrm>
          <a:prstGeom prst="rect">
            <a:avLst/>
          </a:prstGeom>
        </p:spPr>
        <p:txBody>
          <a:bodyPr lIns="0" tIns="0" rIns="0" bIns="0" rtlCol="0" anchor="t">
            <a:spAutoFit/>
          </a:bodyPr>
          <a:lstStyle/>
          <a:p>
            <a:pPr algn="r">
              <a:lnSpc>
                <a:spcPts val="2520"/>
              </a:lnSpc>
            </a:pPr>
            <a:r>
              <a:rPr lang="en-US" sz="1800">
                <a:solidFill>
                  <a:srgbClr val="FFFFFF"/>
                </a:solidFill>
                <a:latin typeface="Be Vietnam"/>
                <a:ea typeface="Be Vietnam"/>
                <a:cs typeface="Be Vietnam"/>
                <a:sym typeface="Be Vietnam"/>
              </a:rPr>
              <a:t>HALAMAN 15</a:t>
            </a:r>
          </a:p>
        </p:txBody>
      </p:sp>
      <p:sp>
        <p:nvSpPr>
          <p:cNvPr id="8" name="TextBox 8"/>
          <p:cNvSpPr txBox="1"/>
          <p:nvPr/>
        </p:nvSpPr>
        <p:spPr>
          <a:xfrm>
            <a:off x="5180057" y="3663421"/>
            <a:ext cx="7927876" cy="1943100"/>
          </a:xfrm>
          <a:prstGeom prst="rect">
            <a:avLst/>
          </a:prstGeom>
        </p:spPr>
        <p:txBody>
          <a:bodyPr lIns="0" tIns="0" rIns="0" bIns="0" rtlCol="0" anchor="t">
            <a:spAutoFit/>
          </a:bodyPr>
          <a:lstStyle/>
          <a:p>
            <a:pPr algn="l">
              <a:lnSpc>
                <a:spcPts val="14400"/>
              </a:lnSpc>
            </a:pPr>
            <a:r>
              <a:rPr lang="en-US" sz="12000">
                <a:solidFill>
                  <a:srgbClr val="2D3E70"/>
                </a:solidFill>
                <a:latin typeface="Boston Angel"/>
                <a:ea typeface="Boston Angel"/>
                <a:cs typeface="Boston Angel"/>
                <a:sym typeface="Boston Angel"/>
              </a:rPr>
              <a:t>Terima Kasih</a:t>
            </a:r>
          </a:p>
        </p:txBody>
      </p:sp>
      <p:grpSp>
        <p:nvGrpSpPr>
          <p:cNvPr id="9" name="Group 9"/>
          <p:cNvGrpSpPr/>
          <p:nvPr/>
        </p:nvGrpSpPr>
        <p:grpSpPr>
          <a:xfrm rot="-1620">
            <a:off x="-4769" y="8228541"/>
            <a:ext cx="18297536" cy="17244"/>
            <a:chOff x="0" y="0"/>
            <a:chExt cx="13475703" cy="12700"/>
          </a:xfrm>
        </p:grpSpPr>
        <p:sp>
          <p:nvSpPr>
            <p:cNvPr id="10" name="Freeform 10"/>
            <p:cNvSpPr/>
            <p:nvPr/>
          </p:nvSpPr>
          <p:spPr>
            <a:xfrm>
              <a:off x="6350" y="0"/>
              <a:ext cx="13463015" cy="12700"/>
            </a:xfrm>
            <a:custGeom>
              <a:avLst/>
              <a:gdLst/>
              <a:ahLst/>
              <a:cxnLst/>
              <a:rect l="l" t="t" r="r" b="b"/>
              <a:pathLst>
                <a:path w="13463015" h="12700">
                  <a:moveTo>
                    <a:pt x="0" y="0"/>
                  </a:moveTo>
                  <a:lnTo>
                    <a:pt x="13463015" y="0"/>
                  </a:lnTo>
                  <a:lnTo>
                    <a:pt x="13463015" y="12700"/>
                  </a:lnTo>
                  <a:lnTo>
                    <a:pt x="0" y="12700"/>
                  </a:lnTo>
                  <a:close/>
                </a:path>
              </a:pathLst>
            </a:custGeom>
            <a:solidFill>
              <a:srgbClr val="2D3E70"/>
            </a:solidFill>
          </p:spPr>
        </p:sp>
      </p:grpSp>
      <p:sp>
        <p:nvSpPr>
          <p:cNvPr id="11" name="TextBox 11"/>
          <p:cNvSpPr txBox="1"/>
          <p:nvPr/>
        </p:nvSpPr>
        <p:spPr>
          <a:xfrm>
            <a:off x="7753319" y="5598867"/>
            <a:ext cx="2781352" cy="431800"/>
          </a:xfrm>
          <a:prstGeom prst="rect">
            <a:avLst/>
          </a:prstGeom>
        </p:spPr>
        <p:txBody>
          <a:bodyPr lIns="0" tIns="0" rIns="0" bIns="0" rtlCol="0" anchor="t">
            <a:spAutoFit/>
          </a:bodyPr>
          <a:lstStyle/>
          <a:p>
            <a:pPr algn="l">
              <a:lnSpc>
                <a:spcPts val="3500"/>
              </a:lnSpc>
            </a:pPr>
            <a:r>
              <a:rPr lang="en-US" sz="2499">
                <a:solidFill>
                  <a:srgbClr val="2D3E70"/>
                </a:solidFill>
                <a:latin typeface="Be Vietnam"/>
                <a:ea typeface="Be Vietnam"/>
                <a:cs typeface="Be Vietnam"/>
                <a:sym typeface="Be Vietnam"/>
              </a:rPr>
              <a:t>Diskusi &amp; Evaluasi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805</Words>
  <Application>Microsoft Office PowerPoint</Application>
  <PresentationFormat>Custom</PresentationFormat>
  <Paragraphs>103</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Boston Angel</vt:lpstr>
      <vt:lpstr>Arial</vt:lpstr>
      <vt:lpstr>Calibri</vt:lpstr>
      <vt:lpstr>Be Vietnam</vt:lpstr>
      <vt:lpstr>Be Vietnam Ultra-Bold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sempro hilmy.pptx</dc:title>
  <cp:lastModifiedBy>Ananda Hilmy</cp:lastModifiedBy>
  <cp:revision>2</cp:revision>
  <dcterms:created xsi:type="dcterms:W3CDTF">2006-08-16T00:00:00Z</dcterms:created>
  <dcterms:modified xsi:type="dcterms:W3CDTF">2026-05-05T07:07:30Z</dcterms:modified>
  <dc:identifier>DAHIsZghOVc</dc:identifier>
</cp:coreProperties>
</file>